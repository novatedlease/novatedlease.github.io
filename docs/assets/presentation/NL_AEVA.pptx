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1" r:id="rId4"/>
    <p:sldId id="272" r:id="rId5"/>
    <p:sldId id="273" r:id="rId6"/>
    <p:sldId id="274" r:id="rId7"/>
    <p:sldId id="275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76" r:id="rId16"/>
    <p:sldId id="277" r:id="rId17"/>
    <p:sldId id="278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8"/>
    <p:restoredTop sz="94659"/>
  </p:normalViewPr>
  <p:slideViewPr>
    <p:cSldViewPr snapToGrid="0" snapToObjects="1">
      <p:cViewPr varScale="1">
        <p:scale>
          <a:sx n="142" d="100"/>
          <a:sy n="142" d="100"/>
        </p:scale>
        <p:origin x="26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4.sv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4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2E3BE-2B43-4C09-BF80-7BA5749DED0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5F52C2B-6B1D-401B-ADF2-0E9841930F10}">
      <dgm:prSet/>
      <dgm:spPr/>
      <dgm:t>
        <a:bodyPr/>
        <a:lstStyle/>
        <a:p>
          <a:r>
            <a:rPr lang="en-AU" b="1" dirty="0"/>
            <a:t>Medical doctor</a:t>
          </a:r>
          <a:r>
            <a:rPr lang="en-AU" dirty="0"/>
            <a:t> — anaesthetist</a:t>
          </a:r>
          <a:endParaRPr lang="en-US" dirty="0"/>
        </a:p>
      </dgm:t>
    </dgm:pt>
    <dgm:pt modelId="{67EF20CF-E987-47F2-96D8-737CC74E03DC}" type="parTrans" cxnId="{5B701E6E-5B85-4AED-9AB8-A3057C49C8C5}">
      <dgm:prSet/>
      <dgm:spPr/>
      <dgm:t>
        <a:bodyPr/>
        <a:lstStyle/>
        <a:p>
          <a:endParaRPr lang="en-US"/>
        </a:p>
      </dgm:t>
    </dgm:pt>
    <dgm:pt modelId="{5B68E6CF-EFCC-4E1C-A5B7-EB018C9F8D0C}" type="sibTrans" cxnId="{5B701E6E-5B85-4AED-9AB8-A3057C49C8C5}">
      <dgm:prSet/>
      <dgm:spPr/>
      <dgm:t>
        <a:bodyPr/>
        <a:lstStyle/>
        <a:p>
          <a:endParaRPr lang="en-US"/>
        </a:p>
      </dgm:t>
    </dgm:pt>
    <dgm:pt modelId="{A14563B3-655B-48A6-855C-95C79D67EE76}">
      <dgm:prSet/>
      <dgm:spPr/>
      <dgm:t>
        <a:bodyPr/>
        <a:lstStyle/>
        <a:p>
          <a:r>
            <a:rPr lang="en-AU" b="1"/>
            <a:t>Lifelong maths geek</a:t>
          </a:r>
          <a:r>
            <a:rPr lang="en-AU"/>
            <a:t> — mathematical olympiads</a:t>
          </a:r>
          <a:endParaRPr lang="en-US"/>
        </a:p>
      </dgm:t>
    </dgm:pt>
    <dgm:pt modelId="{57BC0C42-824F-4E54-925D-24217A542D4D}" type="parTrans" cxnId="{8DE7ACB9-6AA9-4941-BCB0-25396DE2558B}">
      <dgm:prSet/>
      <dgm:spPr/>
      <dgm:t>
        <a:bodyPr/>
        <a:lstStyle/>
        <a:p>
          <a:endParaRPr lang="en-US"/>
        </a:p>
      </dgm:t>
    </dgm:pt>
    <dgm:pt modelId="{756321D7-D02C-4452-8D43-A00C2BAC204F}" type="sibTrans" cxnId="{8DE7ACB9-6AA9-4941-BCB0-25396DE2558B}">
      <dgm:prSet/>
      <dgm:spPr/>
      <dgm:t>
        <a:bodyPr/>
        <a:lstStyle/>
        <a:p>
          <a:endParaRPr lang="en-US"/>
        </a:p>
      </dgm:t>
    </dgm:pt>
    <dgm:pt modelId="{4A94297D-66FF-4115-91A6-0BF507494E17}">
      <dgm:prSet/>
      <dgm:spPr/>
      <dgm:t>
        <a:bodyPr/>
        <a:lstStyle/>
        <a:p>
          <a:r>
            <a:rPr lang="en-AU" b="1" dirty="0"/>
            <a:t>Qualified biostatistician</a:t>
          </a:r>
          <a:r>
            <a:rPr lang="en-AU" dirty="0"/>
            <a:t> — I think in distributions and probability, not point estimates</a:t>
          </a:r>
          <a:endParaRPr lang="en-US" dirty="0"/>
        </a:p>
      </dgm:t>
    </dgm:pt>
    <dgm:pt modelId="{A7D9BD2A-CCBD-4C3D-85F8-A0CAED927BD4}" type="parTrans" cxnId="{11F6238B-3F2D-41A4-9AE6-68843E8C073F}">
      <dgm:prSet/>
      <dgm:spPr/>
      <dgm:t>
        <a:bodyPr/>
        <a:lstStyle/>
        <a:p>
          <a:endParaRPr lang="en-US"/>
        </a:p>
      </dgm:t>
    </dgm:pt>
    <dgm:pt modelId="{F2BC268D-0AFA-476B-87C5-EF2286835111}" type="sibTrans" cxnId="{11F6238B-3F2D-41A4-9AE6-68843E8C073F}">
      <dgm:prSet/>
      <dgm:spPr/>
      <dgm:t>
        <a:bodyPr/>
        <a:lstStyle/>
        <a:p>
          <a:endParaRPr lang="en-US"/>
        </a:p>
      </dgm:t>
    </dgm:pt>
    <dgm:pt modelId="{4D25884F-BCD1-4E0A-A664-0410B27A29F8}">
      <dgm:prSet/>
      <dgm:spPr/>
      <dgm:t>
        <a:bodyPr/>
        <a:lstStyle/>
        <a:p>
          <a:r>
            <a:rPr lang="en-AU" b="1"/>
            <a:t>Personal finance enthusiast</a:t>
          </a:r>
          <a:r>
            <a:rPr lang="en-AU"/>
            <a:t> — I model scenarios before I make decisions</a:t>
          </a:r>
          <a:endParaRPr lang="en-US"/>
        </a:p>
      </dgm:t>
    </dgm:pt>
    <dgm:pt modelId="{13162593-EE98-4A3F-9499-3EA40AD32B1B}" type="parTrans" cxnId="{C5DA939F-B0A4-4FFA-8299-19306913444C}">
      <dgm:prSet/>
      <dgm:spPr/>
      <dgm:t>
        <a:bodyPr/>
        <a:lstStyle/>
        <a:p>
          <a:endParaRPr lang="en-US"/>
        </a:p>
      </dgm:t>
    </dgm:pt>
    <dgm:pt modelId="{1D022F79-CD56-4A76-9115-27A9B5F1FDEF}" type="sibTrans" cxnId="{C5DA939F-B0A4-4FFA-8299-19306913444C}">
      <dgm:prSet/>
      <dgm:spPr/>
      <dgm:t>
        <a:bodyPr/>
        <a:lstStyle/>
        <a:p>
          <a:endParaRPr lang="en-US"/>
        </a:p>
      </dgm:t>
    </dgm:pt>
    <dgm:pt modelId="{55354FDC-4380-4E9B-A546-7A6A12506838}">
      <dgm:prSet/>
      <dgm:spPr/>
      <dgm:t>
        <a:bodyPr/>
        <a:lstStyle/>
        <a:p>
          <a:r>
            <a:rPr lang="en-AU" b="1"/>
            <a:t>Creator of novatedlease.guide</a:t>
          </a:r>
          <a:r>
            <a:rPr lang="en-AU"/>
            <a:t> — independent, non-commercial, no commissions.</a:t>
          </a:r>
          <a:endParaRPr lang="en-US"/>
        </a:p>
      </dgm:t>
    </dgm:pt>
    <dgm:pt modelId="{CC0C9E36-8F07-4C42-826F-85685EA015D6}" type="parTrans" cxnId="{E00BFD67-2681-4131-A3BF-C8F5C8ED2931}">
      <dgm:prSet/>
      <dgm:spPr/>
      <dgm:t>
        <a:bodyPr/>
        <a:lstStyle/>
        <a:p>
          <a:endParaRPr lang="en-US"/>
        </a:p>
      </dgm:t>
    </dgm:pt>
    <dgm:pt modelId="{E9C78DBB-195E-4350-A879-CE33C704689B}" type="sibTrans" cxnId="{E00BFD67-2681-4131-A3BF-C8F5C8ED2931}">
      <dgm:prSet/>
      <dgm:spPr/>
      <dgm:t>
        <a:bodyPr/>
        <a:lstStyle/>
        <a:p>
          <a:endParaRPr lang="en-US"/>
        </a:p>
      </dgm:t>
    </dgm:pt>
    <dgm:pt modelId="{84AD1176-DDFF-7B4C-9152-AD3F30716ED8}" type="pres">
      <dgm:prSet presAssocID="{E9F2E3BE-2B43-4C09-BF80-7BA5749DED00}" presName="linear" presStyleCnt="0">
        <dgm:presLayoutVars>
          <dgm:animLvl val="lvl"/>
          <dgm:resizeHandles val="exact"/>
        </dgm:presLayoutVars>
      </dgm:prSet>
      <dgm:spPr/>
    </dgm:pt>
    <dgm:pt modelId="{F37569EF-0B53-7C47-BDD5-4EDCF9A2022F}" type="pres">
      <dgm:prSet presAssocID="{85F52C2B-6B1D-401B-ADF2-0E9841930F1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8C43504-D02E-2B47-82C5-9702111FE0CE}" type="pres">
      <dgm:prSet presAssocID="{5B68E6CF-EFCC-4E1C-A5B7-EB018C9F8D0C}" presName="spacer" presStyleCnt="0"/>
      <dgm:spPr/>
    </dgm:pt>
    <dgm:pt modelId="{6FA84A33-E771-D842-8F07-012EC554A8D5}" type="pres">
      <dgm:prSet presAssocID="{A14563B3-655B-48A6-855C-95C79D67EE7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BB222BC-6F52-BC4E-9C01-B4BC3DE11244}" type="pres">
      <dgm:prSet presAssocID="{756321D7-D02C-4452-8D43-A00C2BAC204F}" presName="spacer" presStyleCnt="0"/>
      <dgm:spPr/>
    </dgm:pt>
    <dgm:pt modelId="{D7D41D71-4412-1143-BA67-41C1DCC25C91}" type="pres">
      <dgm:prSet presAssocID="{4A94297D-66FF-4115-91A6-0BF507494E1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9872509-A498-AD48-8DC9-E0987E366F2A}" type="pres">
      <dgm:prSet presAssocID="{F2BC268D-0AFA-476B-87C5-EF2286835111}" presName="spacer" presStyleCnt="0"/>
      <dgm:spPr/>
    </dgm:pt>
    <dgm:pt modelId="{2FE28131-D1C7-C645-BA2F-C7D563BEF856}" type="pres">
      <dgm:prSet presAssocID="{4D25884F-BCD1-4E0A-A664-0410B27A29F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84C370F-212E-5F49-88AB-F584E7AF3C8A}" type="pres">
      <dgm:prSet presAssocID="{1D022F79-CD56-4A76-9115-27A9B5F1FDEF}" presName="spacer" presStyleCnt="0"/>
      <dgm:spPr/>
    </dgm:pt>
    <dgm:pt modelId="{F428478E-77DD-4C4F-85B1-6D1F3F2DBD45}" type="pres">
      <dgm:prSet presAssocID="{55354FDC-4380-4E9B-A546-7A6A1250683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AF2EF0E-9E33-BD47-A000-6A1375A4568F}" type="presOf" srcId="{55354FDC-4380-4E9B-A546-7A6A12506838}" destId="{F428478E-77DD-4C4F-85B1-6D1F3F2DBD45}" srcOrd="0" destOrd="0" presId="urn:microsoft.com/office/officeart/2005/8/layout/vList2"/>
    <dgm:cxn modelId="{6D9F4617-E30F-EC46-8C8A-05BBD0EB2AD4}" type="presOf" srcId="{85F52C2B-6B1D-401B-ADF2-0E9841930F10}" destId="{F37569EF-0B53-7C47-BDD5-4EDCF9A2022F}" srcOrd="0" destOrd="0" presId="urn:microsoft.com/office/officeart/2005/8/layout/vList2"/>
    <dgm:cxn modelId="{DD1F0662-BEE4-7144-98DB-63A78A0EF5D0}" type="presOf" srcId="{4D25884F-BCD1-4E0A-A664-0410B27A29F8}" destId="{2FE28131-D1C7-C645-BA2F-C7D563BEF856}" srcOrd="0" destOrd="0" presId="urn:microsoft.com/office/officeart/2005/8/layout/vList2"/>
    <dgm:cxn modelId="{E00BFD67-2681-4131-A3BF-C8F5C8ED2931}" srcId="{E9F2E3BE-2B43-4C09-BF80-7BA5749DED00}" destId="{55354FDC-4380-4E9B-A546-7A6A12506838}" srcOrd="4" destOrd="0" parTransId="{CC0C9E36-8F07-4C42-826F-85685EA015D6}" sibTransId="{E9C78DBB-195E-4350-A879-CE33C704689B}"/>
    <dgm:cxn modelId="{5B701E6E-5B85-4AED-9AB8-A3057C49C8C5}" srcId="{E9F2E3BE-2B43-4C09-BF80-7BA5749DED00}" destId="{85F52C2B-6B1D-401B-ADF2-0E9841930F10}" srcOrd="0" destOrd="0" parTransId="{67EF20CF-E987-47F2-96D8-737CC74E03DC}" sibTransId="{5B68E6CF-EFCC-4E1C-A5B7-EB018C9F8D0C}"/>
    <dgm:cxn modelId="{80549575-E704-1749-BB40-CDA7A3FC5A73}" type="presOf" srcId="{E9F2E3BE-2B43-4C09-BF80-7BA5749DED00}" destId="{84AD1176-DDFF-7B4C-9152-AD3F30716ED8}" srcOrd="0" destOrd="0" presId="urn:microsoft.com/office/officeart/2005/8/layout/vList2"/>
    <dgm:cxn modelId="{3ED5F575-1C79-7D48-A561-7ABD8F8AD83A}" type="presOf" srcId="{4A94297D-66FF-4115-91A6-0BF507494E17}" destId="{D7D41D71-4412-1143-BA67-41C1DCC25C91}" srcOrd="0" destOrd="0" presId="urn:microsoft.com/office/officeart/2005/8/layout/vList2"/>
    <dgm:cxn modelId="{7950FA80-FBF8-5C40-B82D-03230EBFC24B}" type="presOf" srcId="{A14563B3-655B-48A6-855C-95C79D67EE76}" destId="{6FA84A33-E771-D842-8F07-012EC554A8D5}" srcOrd="0" destOrd="0" presId="urn:microsoft.com/office/officeart/2005/8/layout/vList2"/>
    <dgm:cxn modelId="{11F6238B-3F2D-41A4-9AE6-68843E8C073F}" srcId="{E9F2E3BE-2B43-4C09-BF80-7BA5749DED00}" destId="{4A94297D-66FF-4115-91A6-0BF507494E17}" srcOrd="2" destOrd="0" parTransId="{A7D9BD2A-CCBD-4C3D-85F8-A0CAED927BD4}" sibTransId="{F2BC268D-0AFA-476B-87C5-EF2286835111}"/>
    <dgm:cxn modelId="{C5DA939F-B0A4-4FFA-8299-19306913444C}" srcId="{E9F2E3BE-2B43-4C09-BF80-7BA5749DED00}" destId="{4D25884F-BCD1-4E0A-A664-0410B27A29F8}" srcOrd="3" destOrd="0" parTransId="{13162593-EE98-4A3F-9499-3EA40AD32B1B}" sibTransId="{1D022F79-CD56-4A76-9115-27A9B5F1FDEF}"/>
    <dgm:cxn modelId="{8DE7ACB9-6AA9-4941-BCB0-25396DE2558B}" srcId="{E9F2E3BE-2B43-4C09-BF80-7BA5749DED00}" destId="{A14563B3-655B-48A6-855C-95C79D67EE76}" srcOrd="1" destOrd="0" parTransId="{57BC0C42-824F-4E54-925D-24217A542D4D}" sibTransId="{756321D7-D02C-4452-8D43-A00C2BAC204F}"/>
    <dgm:cxn modelId="{171551A5-2DF6-2E49-9E99-F42DA13197E0}" type="presParOf" srcId="{84AD1176-DDFF-7B4C-9152-AD3F30716ED8}" destId="{F37569EF-0B53-7C47-BDD5-4EDCF9A2022F}" srcOrd="0" destOrd="0" presId="urn:microsoft.com/office/officeart/2005/8/layout/vList2"/>
    <dgm:cxn modelId="{F6C5B0A9-0634-BD4F-BC59-138812F8DB44}" type="presParOf" srcId="{84AD1176-DDFF-7B4C-9152-AD3F30716ED8}" destId="{38C43504-D02E-2B47-82C5-9702111FE0CE}" srcOrd="1" destOrd="0" presId="urn:microsoft.com/office/officeart/2005/8/layout/vList2"/>
    <dgm:cxn modelId="{FDB22511-E807-2247-8AF5-3801612673B8}" type="presParOf" srcId="{84AD1176-DDFF-7B4C-9152-AD3F30716ED8}" destId="{6FA84A33-E771-D842-8F07-012EC554A8D5}" srcOrd="2" destOrd="0" presId="urn:microsoft.com/office/officeart/2005/8/layout/vList2"/>
    <dgm:cxn modelId="{482DC9B9-D685-EE44-9A67-D82A133B0977}" type="presParOf" srcId="{84AD1176-DDFF-7B4C-9152-AD3F30716ED8}" destId="{2BB222BC-6F52-BC4E-9C01-B4BC3DE11244}" srcOrd="3" destOrd="0" presId="urn:microsoft.com/office/officeart/2005/8/layout/vList2"/>
    <dgm:cxn modelId="{0D750D09-E3D3-274B-ACDB-B76BB31BFD1D}" type="presParOf" srcId="{84AD1176-DDFF-7B4C-9152-AD3F30716ED8}" destId="{D7D41D71-4412-1143-BA67-41C1DCC25C91}" srcOrd="4" destOrd="0" presId="urn:microsoft.com/office/officeart/2005/8/layout/vList2"/>
    <dgm:cxn modelId="{9437CFFB-39AE-7E48-9713-51BD07E4C3AC}" type="presParOf" srcId="{84AD1176-DDFF-7B4C-9152-AD3F30716ED8}" destId="{99872509-A498-AD48-8DC9-E0987E366F2A}" srcOrd="5" destOrd="0" presId="urn:microsoft.com/office/officeart/2005/8/layout/vList2"/>
    <dgm:cxn modelId="{EF565D78-C476-5E43-B1E7-CE0E48E1437A}" type="presParOf" srcId="{84AD1176-DDFF-7B4C-9152-AD3F30716ED8}" destId="{2FE28131-D1C7-C645-BA2F-C7D563BEF856}" srcOrd="6" destOrd="0" presId="urn:microsoft.com/office/officeart/2005/8/layout/vList2"/>
    <dgm:cxn modelId="{76FD4CDF-8088-F046-B8C7-27981440FFD0}" type="presParOf" srcId="{84AD1176-DDFF-7B4C-9152-AD3F30716ED8}" destId="{B84C370F-212E-5F49-88AB-F584E7AF3C8A}" srcOrd="7" destOrd="0" presId="urn:microsoft.com/office/officeart/2005/8/layout/vList2"/>
    <dgm:cxn modelId="{E3BE5F26-B103-0A4E-8C44-3D65C10EB9DA}" type="presParOf" srcId="{84AD1176-DDFF-7B4C-9152-AD3F30716ED8}" destId="{F428478E-77DD-4C4F-85B1-6D1F3F2DBD4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8A30B9-2672-41EE-AD14-1F0580C8266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8DFDDE6-6975-44EC-A75C-B755741CD29B}">
      <dgm:prSet/>
      <dgm:spPr/>
      <dgm:t>
        <a:bodyPr/>
        <a:lstStyle/>
        <a:p>
          <a:r>
            <a:rPr lang="en-US"/>
            <a:t>Cash / Offset</a:t>
          </a:r>
        </a:p>
      </dgm:t>
    </dgm:pt>
    <dgm:pt modelId="{212BD764-DADF-4B45-85ED-2E630C13FE92}" type="parTrans" cxnId="{B55AC68D-57A6-4216-BDA3-4AA74E2B94E5}">
      <dgm:prSet/>
      <dgm:spPr/>
      <dgm:t>
        <a:bodyPr/>
        <a:lstStyle/>
        <a:p>
          <a:endParaRPr lang="en-US"/>
        </a:p>
      </dgm:t>
    </dgm:pt>
    <dgm:pt modelId="{A0E8515D-6CFA-4DE4-9EB7-EFDC5BD7B43D}" type="sibTrans" cxnId="{B55AC68D-57A6-4216-BDA3-4AA74E2B94E5}">
      <dgm:prSet/>
      <dgm:spPr/>
      <dgm:t>
        <a:bodyPr/>
        <a:lstStyle/>
        <a:p>
          <a:endParaRPr lang="en-US"/>
        </a:p>
      </dgm:t>
    </dgm:pt>
    <dgm:pt modelId="{D9DF623C-98A4-4F5E-BDE5-FBB5A85978BC}">
      <dgm:prSet/>
      <dgm:spPr/>
      <dgm:t>
        <a:bodyPr/>
        <a:lstStyle/>
        <a:p>
          <a:r>
            <a:rPr lang="en-US"/>
            <a:t>Car loan</a:t>
          </a:r>
        </a:p>
      </dgm:t>
    </dgm:pt>
    <dgm:pt modelId="{C72F2B3B-8A34-4BD3-A0BC-2385C093942D}" type="parTrans" cxnId="{3331391C-745B-4F74-8FC6-09D33488C1EA}">
      <dgm:prSet/>
      <dgm:spPr/>
      <dgm:t>
        <a:bodyPr/>
        <a:lstStyle/>
        <a:p>
          <a:endParaRPr lang="en-US"/>
        </a:p>
      </dgm:t>
    </dgm:pt>
    <dgm:pt modelId="{5C3ED399-07D5-4136-8117-68BE5E5C08CE}" type="sibTrans" cxnId="{3331391C-745B-4F74-8FC6-09D33488C1EA}">
      <dgm:prSet/>
      <dgm:spPr/>
      <dgm:t>
        <a:bodyPr/>
        <a:lstStyle/>
        <a:p>
          <a:endParaRPr lang="en-US"/>
        </a:p>
      </dgm:t>
    </dgm:pt>
    <dgm:pt modelId="{2679C4D4-3B7E-4245-B169-5E7E024BA766}">
      <dgm:prSet/>
      <dgm:spPr/>
      <dgm:t>
        <a:bodyPr/>
        <a:lstStyle/>
        <a:p>
          <a:r>
            <a:rPr lang="en-US"/>
            <a:t>Novated lease</a:t>
          </a:r>
        </a:p>
      </dgm:t>
    </dgm:pt>
    <dgm:pt modelId="{E33179C1-11F4-49DB-A5D1-8FD99B3BCF24}" type="parTrans" cxnId="{6739D949-AD2A-4CD9-BBDC-08A66269333C}">
      <dgm:prSet/>
      <dgm:spPr/>
      <dgm:t>
        <a:bodyPr/>
        <a:lstStyle/>
        <a:p>
          <a:endParaRPr lang="en-US"/>
        </a:p>
      </dgm:t>
    </dgm:pt>
    <dgm:pt modelId="{C5E9895C-D6AA-42CB-B27B-F0F88080BF14}" type="sibTrans" cxnId="{6739D949-AD2A-4CD9-BBDC-08A66269333C}">
      <dgm:prSet/>
      <dgm:spPr/>
      <dgm:t>
        <a:bodyPr/>
        <a:lstStyle/>
        <a:p>
          <a:endParaRPr lang="en-US"/>
        </a:p>
      </dgm:t>
    </dgm:pt>
    <dgm:pt modelId="{1A8865B8-9AA5-47A0-B43B-A383F2CD2ABC}">
      <dgm:prSet/>
      <dgm:spPr/>
      <dgm:t>
        <a:bodyPr/>
        <a:lstStyle/>
        <a:p>
          <a:r>
            <a:rPr lang="en-AU"/>
            <a:t>+/- Business use deduction</a:t>
          </a:r>
          <a:endParaRPr lang="en-US"/>
        </a:p>
      </dgm:t>
    </dgm:pt>
    <dgm:pt modelId="{7B216D7A-71B4-44F5-8CD1-E79BBF574B89}" type="parTrans" cxnId="{6E7BE9A6-0E3C-4AE1-A017-D56AAF5B019F}">
      <dgm:prSet/>
      <dgm:spPr/>
      <dgm:t>
        <a:bodyPr/>
        <a:lstStyle/>
        <a:p>
          <a:endParaRPr lang="en-US"/>
        </a:p>
      </dgm:t>
    </dgm:pt>
    <dgm:pt modelId="{9CCE9564-84B2-49C2-B7C1-56DA8FEFED8D}" type="sibTrans" cxnId="{6E7BE9A6-0E3C-4AE1-A017-D56AAF5B019F}">
      <dgm:prSet/>
      <dgm:spPr/>
      <dgm:t>
        <a:bodyPr/>
        <a:lstStyle/>
        <a:p>
          <a:endParaRPr lang="en-US"/>
        </a:p>
      </dgm:t>
    </dgm:pt>
    <dgm:pt modelId="{67FC0484-4996-894F-A79A-9FCADC38844D}" type="pres">
      <dgm:prSet presAssocID="{8B8A30B9-2672-41EE-AD14-1F0580C8266C}" presName="matrix" presStyleCnt="0">
        <dgm:presLayoutVars>
          <dgm:chMax val="1"/>
          <dgm:dir/>
          <dgm:resizeHandles val="exact"/>
        </dgm:presLayoutVars>
      </dgm:prSet>
      <dgm:spPr/>
    </dgm:pt>
    <dgm:pt modelId="{4F1CAED8-4592-8146-AB07-A3783C7CE009}" type="pres">
      <dgm:prSet presAssocID="{8B8A30B9-2672-41EE-AD14-1F0580C8266C}" presName="diamond" presStyleLbl="bgShp" presStyleIdx="0" presStyleCnt="1"/>
      <dgm:spPr/>
    </dgm:pt>
    <dgm:pt modelId="{F11715EF-3E22-F24F-9B8E-27DB44C82CDF}" type="pres">
      <dgm:prSet presAssocID="{8B8A30B9-2672-41EE-AD14-1F0580C8266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289F01C-3E5C-5842-A636-9F5940B47F4B}" type="pres">
      <dgm:prSet presAssocID="{8B8A30B9-2672-41EE-AD14-1F0580C8266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B11F21E-CE97-2943-AAD0-ACACE14A3C14}" type="pres">
      <dgm:prSet presAssocID="{8B8A30B9-2672-41EE-AD14-1F0580C8266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17F6598-9AAE-8548-9F9C-86A549AE3DBA}" type="pres">
      <dgm:prSet presAssocID="{8B8A30B9-2672-41EE-AD14-1F0580C8266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331391C-745B-4F74-8FC6-09D33488C1EA}" srcId="{8B8A30B9-2672-41EE-AD14-1F0580C8266C}" destId="{D9DF623C-98A4-4F5E-BDE5-FBB5A85978BC}" srcOrd="1" destOrd="0" parTransId="{C72F2B3B-8A34-4BD3-A0BC-2385C093942D}" sibTransId="{5C3ED399-07D5-4136-8117-68BE5E5C08CE}"/>
    <dgm:cxn modelId="{0309A521-AB5D-4448-A2FE-D205EFDAF927}" type="presOf" srcId="{1A8865B8-9AA5-47A0-B43B-A383F2CD2ABC}" destId="{417F6598-9AAE-8548-9F9C-86A549AE3DBA}" srcOrd="0" destOrd="0" presId="urn:microsoft.com/office/officeart/2005/8/layout/matrix3"/>
    <dgm:cxn modelId="{6739D949-AD2A-4CD9-BBDC-08A66269333C}" srcId="{8B8A30B9-2672-41EE-AD14-1F0580C8266C}" destId="{2679C4D4-3B7E-4245-B169-5E7E024BA766}" srcOrd="2" destOrd="0" parTransId="{E33179C1-11F4-49DB-A5D1-8FD99B3BCF24}" sibTransId="{C5E9895C-D6AA-42CB-B27B-F0F88080BF14}"/>
    <dgm:cxn modelId="{00EDEE54-194E-D148-9346-AEB604FE400C}" type="presOf" srcId="{8B8A30B9-2672-41EE-AD14-1F0580C8266C}" destId="{67FC0484-4996-894F-A79A-9FCADC38844D}" srcOrd="0" destOrd="0" presId="urn:microsoft.com/office/officeart/2005/8/layout/matrix3"/>
    <dgm:cxn modelId="{40E2D85A-144B-1947-84E0-918A8F54445A}" type="presOf" srcId="{D9DF623C-98A4-4F5E-BDE5-FBB5A85978BC}" destId="{7289F01C-3E5C-5842-A636-9F5940B47F4B}" srcOrd="0" destOrd="0" presId="urn:microsoft.com/office/officeart/2005/8/layout/matrix3"/>
    <dgm:cxn modelId="{F69D8968-C3F0-1146-8C23-427C0AF0B0C6}" type="presOf" srcId="{38DFDDE6-6975-44EC-A75C-B755741CD29B}" destId="{F11715EF-3E22-F24F-9B8E-27DB44C82CDF}" srcOrd="0" destOrd="0" presId="urn:microsoft.com/office/officeart/2005/8/layout/matrix3"/>
    <dgm:cxn modelId="{B55AC68D-57A6-4216-BDA3-4AA74E2B94E5}" srcId="{8B8A30B9-2672-41EE-AD14-1F0580C8266C}" destId="{38DFDDE6-6975-44EC-A75C-B755741CD29B}" srcOrd="0" destOrd="0" parTransId="{212BD764-DADF-4B45-85ED-2E630C13FE92}" sibTransId="{A0E8515D-6CFA-4DE4-9EB7-EFDC5BD7B43D}"/>
    <dgm:cxn modelId="{6E7BE9A6-0E3C-4AE1-A017-D56AAF5B019F}" srcId="{8B8A30B9-2672-41EE-AD14-1F0580C8266C}" destId="{1A8865B8-9AA5-47A0-B43B-A383F2CD2ABC}" srcOrd="3" destOrd="0" parTransId="{7B216D7A-71B4-44F5-8CD1-E79BBF574B89}" sibTransId="{9CCE9564-84B2-49C2-B7C1-56DA8FEFED8D}"/>
    <dgm:cxn modelId="{293522D4-B3B0-544A-961C-956649050788}" type="presOf" srcId="{2679C4D4-3B7E-4245-B169-5E7E024BA766}" destId="{BB11F21E-CE97-2943-AAD0-ACACE14A3C14}" srcOrd="0" destOrd="0" presId="urn:microsoft.com/office/officeart/2005/8/layout/matrix3"/>
    <dgm:cxn modelId="{BC42A6D1-1496-3D4D-978C-1D8F925FA804}" type="presParOf" srcId="{67FC0484-4996-894F-A79A-9FCADC38844D}" destId="{4F1CAED8-4592-8146-AB07-A3783C7CE009}" srcOrd="0" destOrd="0" presId="urn:microsoft.com/office/officeart/2005/8/layout/matrix3"/>
    <dgm:cxn modelId="{C35834F3-CE1B-E04A-A9B8-53FE1F506C7F}" type="presParOf" srcId="{67FC0484-4996-894F-A79A-9FCADC38844D}" destId="{F11715EF-3E22-F24F-9B8E-27DB44C82CDF}" srcOrd="1" destOrd="0" presId="urn:microsoft.com/office/officeart/2005/8/layout/matrix3"/>
    <dgm:cxn modelId="{710E7783-AC00-7340-8DE3-89DDFCF746F3}" type="presParOf" srcId="{67FC0484-4996-894F-A79A-9FCADC38844D}" destId="{7289F01C-3E5C-5842-A636-9F5940B47F4B}" srcOrd="2" destOrd="0" presId="urn:microsoft.com/office/officeart/2005/8/layout/matrix3"/>
    <dgm:cxn modelId="{DDAABDCC-FB1F-EC4C-BD9A-3CBD790F37F5}" type="presParOf" srcId="{67FC0484-4996-894F-A79A-9FCADC38844D}" destId="{BB11F21E-CE97-2943-AAD0-ACACE14A3C14}" srcOrd="3" destOrd="0" presId="urn:microsoft.com/office/officeart/2005/8/layout/matrix3"/>
    <dgm:cxn modelId="{76C3380A-0156-6344-87C4-979E1B25A1B6}" type="presParOf" srcId="{67FC0484-4996-894F-A79A-9FCADC38844D}" destId="{417F6598-9AAE-8548-9F9C-86A549AE3DB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2BF265-0A4F-41B5-9DCC-E713E9698A33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C1C10F3-9D6A-45DA-A183-BF028E9AEE7F}">
      <dgm:prSet/>
      <dgm:spPr/>
      <dgm:t>
        <a:bodyPr/>
        <a:lstStyle/>
        <a:p>
          <a:pPr>
            <a:defRPr b="1"/>
          </a:pPr>
          <a:r>
            <a:rPr lang="en-AU"/>
            <a:t>Traditionally “gold standard”</a:t>
          </a:r>
          <a:endParaRPr lang="en-US"/>
        </a:p>
      </dgm:t>
    </dgm:pt>
    <dgm:pt modelId="{8EBBBD64-30F9-4EA4-B09A-6688B5F77D16}" type="parTrans" cxnId="{AF7D2744-7BF5-43F9-8E01-6F499249D910}">
      <dgm:prSet/>
      <dgm:spPr/>
      <dgm:t>
        <a:bodyPr/>
        <a:lstStyle/>
        <a:p>
          <a:endParaRPr lang="en-US"/>
        </a:p>
      </dgm:t>
    </dgm:pt>
    <dgm:pt modelId="{D32F11F0-93FE-4491-B4E3-F05337306FAB}" type="sibTrans" cxnId="{AF7D2744-7BF5-43F9-8E01-6F499249D910}">
      <dgm:prSet/>
      <dgm:spPr/>
      <dgm:t>
        <a:bodyPr/>
        <a:lstStyle/>
        <a:p>
          <a:endParaRPr lang="en-US"/>
        </a:p>
      </dgm:t>
    </dgm:pt>
    <dgm:pt modelId="{654C8304-A57E-476B-B963-AF510759767F}">
      <dgm:prSet/>
      <dgm:spPr/>
      <dgm:t>
        <a:bodyPr/>
        <a:lstStyle/>
        <a:p>
          <a:r>
            <a:rPr lang="en-AU"/>
            <a:t>”Cash is king”</a:t>
          </a:r>
          <a:endParaRPr lang="en-US"/>
        </a:p>
      </dgm:t>
    </dgm:pt>
    <dgm:pt modelId="{3BE9C76D-5827-4FCF-A595-6B314516C341}" type="parTrans" cxnId="{0CCAEF05-2F34-4E6D-86E7-8802C1FA7797}">
      <dgm:prSet/>
      <dgm:spPr/>
      <dgm:t>
        <a:bodyPr/>
        <a:lstStyle/>
        <a:p>
          <a:endParaRPr lang="en-US"/>
        </a:p>
      </dgm:t>
    </dgm:pt>
    <dgm:pt modelId="{A0581CD3-5688-4FCC-9AE9-02CD5EA3D3BC}" type="sibTrans" cxnId="{0CCAEF05-2F34-4E6D-86E7-8802C1FA7797}">
      <dgm:prSet/>
      <dgm:spPr/>
      <dgm:t>
        <a:bodyPr/>
        <a:lstStyle/>
        <a:p>
          <a:endParaRPr lang="en-US"/>
        </a:p>
      </dgm:t>
    </dgm:pt>
    <dgm:pt modelId="{C6E7F2B9-ACB9-46BD-A61A-9E7AC7C514E2}">
      <dgm:prSet/>
      <dgm:spPr/>
      <dgm:t>
        <a:bodyPr/>
        <a:lstStyle/>
        <a:p>
          <a:r>
            <a:rPr lang="en-AU" dirty="0"/>
            <a:t>”Financing a car is how you stay poor”</a:t>
          </a:r>
          <a:endParaRPr lang="en-US" dirty="0"/>
        </a:p>
      </dgm:t>
    </dgm:pt>
    <dgm:pt modelId="{EE5E467B-D9FF-47F9-B4E5-76CD46A7654F}" type="parTrans" cxnId="{2E93495E-4681-421B-8D5E-C6D7FFC1A31D}">
      <dgm:prSet/>
      <dgm:spPr/>
      <dgm:t>
        <a:bodyPr/>
        <a:lstStyle/>
        <a:p>
          <a:endParaRPr lang="en-US"/>
        </a:p>
      </dgm:t>
    </dgm:pt>
    <dgm:pt modelId="{A082446B-8F60-4AA5-95A1-333FE87D95C5}" type="sibTrans" cxnId="{2E93495E-4681-421B-8D5E-C6D7FFC1A31D}">
      <dgm:prSet/>
      <dgm:spPr/>
      <dgm:t>
        <a:bodyPr/>
        <a:lstStyle/>
        <a:p>
          <a:endParaRPr lang="en-US"/>
        </a:p>
      </dgm:t>
    </dgm:pt>
    <dgm:pt modelId="{79C26AB3-11CF-4E54-8091-0B050A336781}">
      <dgm:prSet/>
      <dgm:spPr/>
      <dgm:t>
        <a:bodyPr/>
        <a:lstStyle/>
        <a:p>
          <a:pPr>
            <a:defRPr b="1"/>
          </a:pPr>
          <a:r>
            <a:rPr lang="en-US"/>
            <a:t>Often treated as ‘</a:t>
          </a:r>
          <a:r>
            <a:rPr lang="en-AU"/>
            <a:t>zero finance cost</a:t>
          </a:r>
          <a:r>
            <a:rPr lang="en-US"/>
            <a:t>’ </a:t>
          </a:r>
          <a:r>
            <a:rPr lang="en-AU"/>
            <a:t>but</a:t>
          </a:r>
          <a:r>
            <a:rPr lang="en-US"/>
            <a:t> </a:t>
          </a:r>
          <a:r>
            <a:rPr lang="en-AU"/>
            <a:t>not true</a:t>
          </a:r>
          <a:endParaRPr lang="en-US"/>
        </a:p>
      </dgm:t>
    </dgm:pt>
    <dgm:pt modelId="{058AEC53-5792-4F65-B573-9DFAFE48B274}" type="parTrans" cxnId="{A2273EB7-5271-4C10-B93F-3A7A3F650AC1}">
      <dgm:prSet/>
      <dgm:spPr/>
      <dgm:t>
        <a:bodyPr/>
        <a:lstStyle/>
        <a:p>
          <a:endParaRPr lang="en-US"/>
        </a:p>
      </dgm:t>
    </dgm:pt>
    <dgm:pt modelId="{79EF9FA4-87DE-4444-9661-651255E2A602}" type="sibTrans" cxnId="{A2273EB7-5271-4C10-B93F-3A7A3F650AC1}">
      <dgm:prSet/>
      <dgm:spPr/>
      <dgm:t>
        <a:bodyPr/>
        <a:lstStyle/>
        <a:p>
          <a:endParaRPr lang="en-US"/>
        </a:p>
      </dgm:t>
    </dgm:pt>
    <dgm:pt modelId="{C8BA73EB-D92C-4835-964D-C277708949E2}">
      <dgm:prSet/>
      <dgm:spPr/>
      <dgm:t>
        <a:bodyPr/>
        <a:lstStyle/>
        <a:p>
          <a:r>
            <a:rPr lang="en-US" dirty="0"/>
            <a:t>Opportunity cost</a:t>
          </a:r>
        </a:p>
      </dgm:t>
    </dgm:pt>
    <dgm:pt modelId="{240BA983-0A48-488F-AD0E-5A050BA7DA40}" type="parTrans" cxnId="{55C50B41-7F29-4281-92BC-0A5C8D40E2BE}">
      <dgm:prSet/>
      <dgm:spPr/>
      <dgm:t>
        <a:bodyPr/>
        <a:lstStyle/>
        <a:p>
          <a:endParaRPr lang="en-US"/>
        </a:p>
      </dgm:t>
    </dgm:pt>
    <dgm:pt modelId="{B320A4F3-C32C-4D05-8563-F77E5B1F7228}" type="sibTrans" cxnId="{55C50B41-7F29-4281-92BC-0A5C8D40E2BE}">
      <dgm:prSet/>
      <dgm:spPr/>
      <dgm:t>
        <a:bodyPr/>
        <a:lstStyle/>
        <a:p>
          <a:endParaRPr lang="en-US"/>
        </a:p>
      </dgm:t>
    </dgm:pt>
    <dgm:pt modelId="{9B584EBF-6902-4303-A9A3-0889B4479BFD}">
      <dgm:prSet/>
      <dgm:spPr/>
      <dgm:t>
        <a:bodyPr/>
        <a:lstStyle/>
        <a:p>
          <a:r>
            <a:rPr lang="en-US" dirty="0"/>
            <a:t>Money spent could lead to more home loan interests. </a:t>
          </a:r>
        </a:p>
      </dgm:t>
    </dgm:pt>
    <dgm:pt modelId="{FE8E7490-B89B-4720-A754-3EA679996FCA}" type="parTrans" cxnId="{20D44097-9675-4482-A0C5-A57014A660B0}">
      <dgm:prSet/>
      <dgm:spPr/>
      <dgm:t>
        <a:bodyPr/>
        <a:lstStyle/>
        <a:p>
          <a:endParaRPr lang="en-US"/>
        </a:p>
      </dgm:t>
    </dgm:pt>
    <dgm:pt modelId="{582B6C82-D555-43D0-B92A-A8E36845A8BD}" type="sibTrans" cxnId="{20D44097-9675-4482-A0C5-A57014A660B0}">
      <dgm:prSet/>
      <dgm:spPr/>
      <dgm:t>
        <a:bodyPr/>
        <a:lstStyle/>
        <a:p>
          <a:endParaRPr lang="en-US"/>
        </a:p>
      </dgm:t>
    </dgm:pt>
    <dgm:pt modelId="{8B59A5C5-DA09-4B36-94A0-127DE40E2645}">
      <dgm:prSet/>
      <dgm:spPr/>
      <dgm:t>
        <a:bodyPr/>
        <a:lstStyle/>
        <a:p>
          <a:r>
            <a:rPr lang="en-AU"/>
            <a:t>E.g. $60,000 forked out from offset account: at 5.5% home loan interest, it’s equivalent to $3,300 extra interest per year. </a:t>
          </a:r>
          <a:endParaRPr lang="en-US"/>
        </a:p>
      </dgm:t>
    </dgm:pt>
    <dgm:pt modelId="{157AD25B-8721-4C1E-A0F7-5F160D1CB53E}" type="parTrans" cxnId="{CAF7A816-50D3-49C1-9242-703730559EB9}">
      <dgm:prSet/>
      <dgm:spPr/>
      <dgm:t>
        <a:bodyPr/>
        <a:lstStyle/>
        <a:p>
          <a:endParaRPr lang="en-US"/>
        </a:p>
      </dgm:t>
    </dgm:pt>
    <dgm:pt modelId="{CF1E711B-C9FE-4727-ADBB-51B9F8B70153}" type="sibTrans" cxnId="{CAF7A816-50D3-49C1-9242-703730559EB9}">
      <dgm:prSet/>
      <dgm:spPr/>
      <dgm:t>
        <a:bodyPr/>
        <a:lstStyle/>
        <a:p>
          <a:endParaRPr lang="en-US"/>
        </a:p>
      </dgm:t>
    </dgm:pt>
    <dgm:pt modelId="{38F82F4A-155F-CA43-82BD-B7BAAF6BC0EF}" type="pres">
      <dgm:prSet presAssocID="{622BF265-0A4F-41B5-9DCC-E713E9698A33}" presName="linear" presStyleCnt="0">
        <dgm:presLayoutVars>
          <dgm:animLvl val="lvl"/>
          <dgm:resizeHandles val="exact"/>
        </dgm:presLayoutVars>
      </dgm:prSet>
      <dgm:spPr/>
    </dgm:pt>
    <dgm:pt modelId="{8866DF9D-74EE-E74B-87E8-35E2F87E68C5}" type="pres">
      <dgm:prSet presAssocID="{1C1C10F3-9D6A-45DA-A183-BF028E9AEE7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F79167D-321D-9D48-A30C-DF7F347A9C33}" type="pres">
      <dgm:prSet presAssocID="{1C1C10F3-9D6A-45DA-A183-BF028E9AEE7F}" presName="childText" presStyleLbl="revTx" presStyleIdx="0" presStyleCnt="2">
        <dgm:presLayoutVars>
          <dgm:bulletEnabled val="1"/>
        </dgm:presLayoutVars>
      </dgm:prSet>
      <dgm:spPr/>
    </dgm:pt>
    <dgm:pt modelId="{84536FE1-3151-0543-B16C-A1FB330158F1}" type="pres">
      <dgm:prSet presAssocID="{79C26AB3-11CF-4E54-8091-0B050A33678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51AE5A4-32ED-8D43-A7C6-43E31543EBD0}" type="pres">
      <dgm:prSet presAssocID="{79C26AB3-11CF-4E54-8091-0B050A33678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F286702-E86E-7148-B6A2-27672E4FD1E1}" type="presOf" srcId="{1C1C10F3-9D6A-45DA-A183-BF028E9AEE7F}" destId="{8866DF9D-74EE-E74B-87E8-35E2F87E68C5}" srcOrd="0" destOrd="0" presId="urn:microsoft.com/office/officeart/2005/8/layout/vList2"/>
    <dgm:cxn modelId="{E303BA02-DF46-E442-91A7-72A09D5741FA}" type="presOf" srcId="{C6E7F2B9-ACB9-46BD-A61A-9E7AC7C514E2}" destId="{7F79167D-321D-9D48-A30C-DF7F347A9C33}" srcOrd="0" destOrd="1" presId="urn:microsoft.com/office/officeart/2005/8/layout/vList2"/>
    <dgm:cxn modelId="{0CCAEF05-2F34-4E6D-86E7-8802C1FA7797}" srcId="{1C1C10F3-9D6A-45DA-A183-BF028E9AEE7F}" destId="{654C8304-A57E-476B-B963-AF510759767F}" srcOrd="0" destOrd="0" parTransId="{3BE9C76D-5827-4FCF-A595-6B314516C341}" sibTransId="{A0581CD3-5688-4FCC-9AE9-02CD5EA3D3BC}"/>
    <dgm:cxn modelId="{CAF7A816-50D3-49C1-9242-703730559EB9}" srcId="{79C26AB3-11CF-4E54-8091-0B050A336781}" destId="{8B59A5C5-DA09-4B36-94A0-127DE40E2645}" srcOrd="2" destOrd="0" parTransId="{157AD25B-8721-4C1E-A0F7-5F160D1CB53E}" sibTransId="{CF1E711B-C9FE-4727-ADBB-51B9F8B70153}"/>
    <dgm:cxn modelId="{55C50B41-7F29-4281-92BC-0A5C8D40E2BE}" srcId="{79C26AB3-11CF-4E54-8091-0B050A336781}" destId="{C8BA73EB-D92C-4835-964D-C277708949E2}" srcOrd="0" destOrd="0" parTransId="{240BA983-0A48-488F-AD0E-5A050BA7DA40}" sibTransId="{B320A4F3-C32C-4D05-8563-F77E5B1F7228}"/>
    <dgm:cxn modelId="{94D2BC42-CA20-6940-B33C-66C1C6155872}" type="presOf" srcId="{C8BA73EB-D92C-4835-964D-C277708949E2}" destId="{251AE5A4-32ED-8D43-A7C6-43E31543EBD0}" srcOrd="0" destOrd="0" presId="urn:microsoft.com/office/officeart/2005/8/layout/vList2"/>
    <dgm:cxn modelId="{AF7D2744-7BF5-43F9-8E01-6F499249D910}" srcId="{622BF265-0A4F-41B5-9DCC-E713E9698A33}" destId="{1C1C10F3-9D6A-45DA-A183-BF028E9AEE7F}" srcOrd="0" destOrd="0" parTransId="{8EBBBD64-30F9-4EA4-B09A-6688B5F77D16}" sibTransId="{D32F11F0-93FE-4491-B4E3-F05337306FAB}"/>
    <dgm:cxn modelId="{F6A75446-4115-3E45-9C02-121C1E1630E9}" type="presOf" srcId="{622BF265-0A4F-41B5-9DCC-E713E9698A33}" destId="{38F82F4A-155F-CA43-82BD-B7BAAF6BC0EF}" srcOrd="0" destOrd="0" presId="urn:microsoft.com/office/officeart/2005/8/layout/vList2"/>
    <dgm:cxn modelId="{6C58DF50-F3E4-0940-AF81-802DBA256519}" type="presOf" srcId="{8B59A5C5-DA09-4B36-94A0-127DE40E2645}" destId="{251AE5A4-32ED-8D43-A7C6-43E31543EBD0}" srcOrd="0" destOrd="2" presId="urn:microsoft.com/office/officeart/2005/8/layout/vList2"/>
    <dgm:cxn modelId="{511D6C5A-E8A5-D64B-A420-A1B884B2BA5E}" type="presOf" srcId="{9B584EBF-6902-4303-A9A3-0889B4479BFD}" destId="{251AE5A4-32ED-8D43-A7C6-43E31543EBD0}" srcOrd="0" destOrd="1" presId="urn:microsoft.com/office/officeart/2005/8/layout/vList2"/>
    <dgm:cxn modelId="{2E93495E-4681-421B-8D5E-C6D7FFC1A31D}" srcId="{1C1C10F3-9D6A-45DA-A183-BF028E9AEE7F}" destId="{C6E7F2B9-ACB9-46BD-A61A-9E7AC7C514E2}" srcOrd="1" destOrd="0" parTransId="{EE5E467B-D9FF-47F9-B4E5-76CD46A7654F}" sibTransId="{A082446B-8F60-4AA5-95A1-333FE87D95C5}"/>
    <dgm:cxn modelId="{EACE1487-3FF9-CC45-BFB3-B07F80D0C063}" type="presOf" srcId="{79C26AB3-11CF-4E54-8091-0B050A336781}" destId="{84536FE1-3151-0543-B16C-A1FB330158F1}" srcOrd="0" destOrd="0" presId="urn:microsoft.com/office/officeart/2005/8/layout/vList2"/>
    <dgm:cxn modelId="{789C7A91-90FC-F846-ACE5-395251F3501F}" type="presOf" srcId="{654C8304-A57E-476B-B963-AF510759767F}" destId="{7F79167D-321D-9D48-A30C-DF7F347A9C33}" srcOrd="0" destOrd="0" presId="urn:microsoft.com/office/officeart/2005/8/layout/vList2"/>
    <dgm:cxn modelId="{20D44097-9675-4482-A0C5-A57014A660B0}" srcId="{79C26AB3-11CF-4E54-8091-0B050A336781}" destId="{9B584EBF-6902-4303-A9A3-0889B4479BFD}" srcOrd="1" destOrd="0" parTransId="{FE8E7490-B89B-4720-A754-3EA679996FCA}" sibTransId="{582B6C82-D555-43D0-B92A-A8E36845A8BD}"/>
    <dgm:cxn modelId="{A2273EB7-5271-4C10-B93F-3A7A3F650AC1}" srcId="{622BF265-0A4F-41B5-9DCC-E713E9698A33}" destId="{79C26AB3-11CF-4E54-8091-0B050A336781}" srcOrd="1" destOrd="0" parTransId="{058AEC53-5792-4F65-B573-9DFAFE48B274}" sibTransId="{79EF9FA4-87DE-4444-9661-651255E2A602}"/>
    <dgm:cxn modelId="{C56FF188-DE9B-1246-A9AD-E341BADDF850}" type="presParOf" srcId="{38F82F4A-155F-CA43-82BD-B7BAAF6BC0EF}" destId="{8866DF9D-74EE-E74B-87E8-35E2F87E68C5}" srcOrd="0" destOrd="0" presId="urn:microsoft.com/office/officeart/2005/8/layout/vList2"/>
    <dgm:cxn modelId="{0ABF02FD-4FE6-0147-9B80-9F2E5B825AA7}" type="presParOf" srcId="{38F82F4A-155F-CA43-82BD-B7BAAF6BC0EF}" destId="{7F79167D-321D-9D48-A30C-DF7F347A9C33}" srcOrd="1" destOrd="0" presId="urn:microsoft.com/office/officeart/2005/8/layout/vList2"/>
    <dgm:cxn modelId="{F8E17FCD-F3D7-F94F-8EFF-F2AEBC47A452}" type="presParOf" srcId="{38F82F4A-155F-CA43-82BD-B7BAAF6BC0EF}" destId="{84536FE1-3151-0543-B16C-A1FB330158F1}" srcOrd="2" destOrd="0" presId="urn:microsoft.com/office/officeart/2005/8/layout/vList2"/>
    <dgm:cxn modelId="{A6095582-C80A-2942-A939-5AD912415CB2}" type="presParOf" srcId="{38F82F4A-155F-CA43-82BD-B7BAAF6BC0EF}" destId="{251AE5A4-32ED-8D43-A7C6-43E31543EBD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5859C1-28E5-47D9-92A7-A522EC86E67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2DAF1F-8035-44AC-ABDA-35F36C05CB65}">
      <dgm:prSet/>
      <dgm:spPr/>
      <dgm:t>
        <a:bodyPr/>
        <a:lstStyle/>
        <a:p>
          <a:pPr>
            <a:lnSpc>
              <a:spcPct val="100000"/>
            </a:lnSpc>
          </a:pPr>
          <a:r>
            <a:rPr lang="en-AU"/>
            <a:t>Allow people who do not have the upfront cash to still buy a car</a:t>
          </a:r>
          <a:endParaRPr lang="en-US"/>
        </a:p>
      </dgm:t>
    </dgm:pt>
    <dgm:pt modelId="{EDE29BDB-F5D4-439A-A71B-EA5249E77B91}" type="parTrans" cxnId="{ED03144B-C7DF-4DF0-A411-F391BF0CF0D3}">
      <dgm:prSet/>
      <dgm:spPr/>
      <dgm:t>
        <a:bodyPr/>
        <a:lstStyle/>
        <a:p>
          <a:endParaRPr lang="en-US"/>
        </a:p>
      </dgm:t>
    </dgm:pt>
    <dgm:pt modelId="{299656BE-BED5-4B15-8FD8-65566FEB1B85}" type="sibTrans" cxnId="{ED03144B-C7DF-4DF0-A411-F391BF0CF0D3}">
      <dgm:prSet/>
      <dgm:spPr/>
      <dgm:t>
        <a:bodyPr/>
        <a:lstStyle/>
        <a:p>
          <a:endParaRPr lang="en-US"/>
        </a:p>
      </dgm:t>
    </dgm:pt>
    <dgm:pt modelId="{0DFDC527-2ED6-4BD3-8DEE-089BE01E3D10}">
      <dgm:prSet/>
      <dgm:spPr/>
      <dgm:t>
        <a:bodyPr/>
        <a:lstStyle/>
        <a:p>
          <a:pPr>
            <a:lnSpc>
              <a:spcPct val="100000"/>
            </a:lnSpc>
          </a:pPr>
          <a:r>
            <a:rPr lang="en-AU"/>
            <a:t>Cost: interests.</a:t>
          </a:r>
          <a:endParaRPr lang="en-US"/>
        </a:p>
      </dgm:t>
    </dgm:pt>
    <dgm:pt modelId="{EF44E731-878F-4ED2-869C-846120CBDFFC}" type="parTrans" cxnId="{8FFFEAA8-EB2C-4242-8AC6-FF44F75C7EE1}">
      <dgm:prSet/>
      <dgm:spPr/>
      <dgm:t>
        <a:bodyPr/>
        <a:lstStyle/>
        <a:p>
          <a:endParaRPr lang="en-US"/>
        </a:p>
      </dgm:t>
    </dgm:pt>
    <dgm:pt modelId="{B74FD22C-D61E-40B3-862E-444AD7AAF681}" type="sibTrans" cxnId="{8FFFEAA8-EB2C-4242-8AC6-FF44F75C7EE1}">
      <dgm:prSet/>
      <dgm:spPr/>
      <dgm:t>
        <a:bodyPr/>
        <a:lstStyle/>
        <a:p>
          <a:endParaRPr lang="en-US"/>
        </a:p>
      </dgm:t>
    </dgm:pt>
    <dgm:pt modelId="{2A0F0AD5-0828-41A2-9B54-03899B14E332}">
      <dgm:prSet/>
      <dgm:spPr/>
      <dgm:t>
        <a:bodyPr/>
        <a:lstStyle/>
        <a:p>
          <a:pPr>
            <a:lnSpc>
              <a:spcPct val="100000"/>
            </a:lnSpc>
          </a:pPr>
          <a:r>
            <a:rPr lang="en-AU"/>
            <a:t>Paid with post‑tax dollars</a:t>
          </a:r>
          <a:endParaRPr lang="en-US"/>
        </a:p>
      </dgm:t>
    </dgm:pt>
    <dgm:pt modelId="{2EEAF81D-C909-47C3-A340-C6FC92CC222D}" type="parTrans" cxnId="{55B4747B-82B2-4527-8FA5-CB7F9731D630}">
      <dgm:prSet/>
      <dgm:spPr/>
      <dgm:t>
        <a:bodyPr/>
        <a:lstStyle/>
        <a:p>
          <a:endParaRPr lang="en-US"/>
        </a:p>
      </dgm:t>
    </dgm:pt>
    <dgm:pt modelId="{11972A61-CD86-492F-B00E-9FBEA4843211}" type="sibTrans" cxnId="{55B4747B-82B2-4527-8FA5-CB7F9731D630}">
      <dgm:prSet/>
      <dgm:spPr/>
      <dgm:t>
        <a:bodyPr/>
        <a:lstStyle/>
        <a:p>
          <a:endParaRPr lang="en-US"/>
        </a:p>
      </dgm:t>
    </dgm:pt>
    <dgm:pt modelId="{A692037F-207C-4003-AA9F-E67EF7CCDBAE}" type="pres">
      <dgm:prSet presAssocID="{7B5859C1-28E5-47D9-92A7-A522EC86E671}" presName="root" presStyleCnt="0">
        <dgm:presLayoutVars>
          <dgm:dir/>
          <dgm:resizeHandles val="exact"/>
        </dgm:presLayoutVars>
      </dgm:prSet>
      <dgm:spPr/>
    </dgm:pt>
    <dgm:pt modelId="{858271D9-4F11-43F5-B6A9-AAB8B107E8BB}" type="pres">
      <dgm:prSet presAssocID="{8D2DAF1F-8035-44AC-ABDA-35F36C05CB65}" presName="compNode" presStyleCnt="0"/>
      <dgm:spPr/>
    </dgm:pt>
    <dgm:pt modelId="{A1AF91E8-D827-41A7-AD52-A5743DAEE5E1}" type="pres">
      <dgm:prSet presAssocID="{8D2DAF1F-8035-44AC-ABDA-35F36C05CB6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D74F11D-DB97-4986-92CA-0FD79E3DEEDF}" type="pres">
      <dgm:prSet presAssocID="{8D2DAF1F-8035-44AC-ABDA-35F36C05CB65}" presName="spaceRect" presStyleCnt="0"/>
      <dgm:spPr/>
    </dgm:pt>
    <dgm:pt modelId="{850C3851-64F9-4890-9B41-894928FB008E}" type="pres">
      <dgm:prSet presAssocID="{8D2DAF1F-8035-44AC-ABDA-35F36C05CB65}" presName="textRect" presStyleLbl="revTx" presStyleIdx="0" presStyleCnt="3">
        <dgm:presLayoutVars>
          <dgm:chMax val="1"/>
          <dgm:chPref val="1"/>
        </dgm:presLayoutVars>
      </dgm:prSet>
      <dgm:spPr/>
    </dgm:pt>
    <dgm:pt modelId="{068C835E-7278-4312-A203-AC16CFE07C30}" type="pres">
      <dgm:prSet presAssocID="{299656BE-BED5-4B15-8FD8-65566FEB1B85}" presName="sibTrans" presStyleCnt="0"/>
      <dgm:spPr/>
    </dgm:pt>
    <dgm:pt modelId="{3C3B26A4-BD8C-4DC2-B71D-66694CEC2F1A}" type="pres">
      <dgm:prSet presAssocID="{0DFDC527-2ED6-4BD3-8DEE-089BE01E3D10}" presName="compNode" presStyleCnt="0"/>
      <dgm:spPr/>
    </dgm:pt>
    <dgm:pt modelId="{E91128A7-689E-4494-B442-3EAE27FD28B4}" type="pres">
      <dgm:prSet presAssocID="{0DFDC527-2ED6-4BD3-8DEE-089BE01E3D1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und"/>
        </a:ext>
      </dgm:extLst>
    </dgm:pt>
    <dgm:pt modelId="{FC64ADD8-0983-4C27-BB48-258411ABFBBD}" type="pres">
      <dgm:prSet presAssocID="{0DFDC527-2ED6-4BD3-8DEE-089BE01E3D10}" presName="spaceRect" presStyleCnt="0"/>
      <dgm:spPr/>
    </dgm:pt>
    <dgm:pt modelId="{EF2828B2-0AB2-439C-A8A7-9123CC44D8BC}" type="pres">
      <dgm:prSet presAssocID="{0DFDC527-2ED6-4BD3-8DEE-089BE01E3D10}" presName="textRect" presStyleLbl="revTx" presStyleIdx="1" presStyleCnt="3">
        <dgm:presLayoutVars>
          <dgm:chMax val="1"/>
          <dgm:chPref val="1"/>
        </dgm:presLayoutVars>
      </dgm:prSet>
      <dgm:spPr/>
    </dgm:pt>
    <dgm:pt modelId="{CEC5167B-7706-4573-A81E-BC2425E398DD}" type="pres">
      <dgm:prSet presAssocID="{B74FD22C-D61E-40B3-862E-444AD7AAF681}" presName="sibTrans" presStyleCnt="0"/>
      <dgm:spPr/>
    </dgm:pt>
    <dgm:pt modelId="{946F04C2-1E57-4CBB-9C7F-C2724DE6DE7C}" type="pres">
      <dgm:prSet presAssocID="{2A0F0AD5-0828-41A2-9B54-03899B14E332}" presName="compNode" presStyleCnt="0"/>
      <dgm:spPr/>
    </dgm:pt>
    <dgm:pt modelId="{A5BBA301-D97A-47D0-968E-9093966AFD81}" type="pres">
      <dgm:prSet presAssocID="{2A0F0AD5-0828-41A2-9B54-03899B14E33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427C5D97-30E5-42E8-B516-A62F371B68B7}" type="pres">
      <dgm:prSet presAssocID="{2A0F0AD5-0828-41A2-9B54-03899B14E332}" presName="spaceRect" presStyleCnt="0"/>
      <dgm:spPr/>
    </dgm:pt>
    <dgm:pt modelId="{508AF61C-B893-47C3-ADCF-45ECCD31F297}" type="pres">
      <dgm:prSet presAssocID="{2A0F0AD5-0828-41A2-9B54-03899B14E33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D03144B-C7DF-4DF0-A411-F391BF0CF0D3}" srcId="{7B5859C1-28E5-47D9-92A7-A522EC86E671}" destId="{8D2DAF1F-8035-44AC-ABDA-35F36C05CB65}" srcOrd="0" destOrd="0" parTransId="{EDE29BDB-F5D4-439A-A71B-EA5249E77B91}" sibTransId="{299656BE-BED5-4B15-8FD8-65566FEB1B85}"/>
    <dgm:cxn modelId="{A69FE94E-C60B-429A-AD12-1CA362DF545A}" type="presOf" srcId="{7B5859C1-28E5-47D9-92A7-A522EC86E671}" destId="{A692037F-207C-4003-AA9F-E67EF7CCDBAE}" srcOrd="0" destOrd="0" presId="urn:microsoft.com/office/officeart/2018/2/layout/IconLabelList"/>
    <dgm:cxn modelId="{21507C4F-A5F0-48A4-A101-2BE108740E69}" type="presOf" srcId="{0DFDC527-2ED6-4BD3-8DEE-089BE01E3D10}" destId="{EF2828B2-0AB2-439C-A8A7-9123CC44D8BC}" srcOrd="0" destOrd="0" presId="urn:microsoft.com/office/officeart/2018/2/layout/IconLabelList"/>
    <dgm:cxn modelId="{55B4747B-82B2-4527-8FA5-CB7F9731D630}" srcId="{7B5859C1-28E5-47D9-92A7-A522EC86E671}" destId="{2A0F0AD5-0828-41A2-9B54-03899B14E332}" srcOrd="2" destOrd="0" parTransId="{2EEAF81D-C909-47C3-A340-C6FC92CC222D}" sibTransId="{11972A61-CD86-492F-B00E-9FBEA4843211}"/>
    <dgm:cxn modelId="{45A1A1A2-DAED-41C5-AADA-1314295AFD79}" type="presOf" srcId="{8D2DAF1F-8035-44AC-ABDA-35F36C05CB65}" destId="{850C3851-64F9-4890-9B41-894928FB008E}" srcOrd="0" destOrd="0" presId="urn:microsoft.com/office/officeart/2018/2/layout/IconLabelList"/>
    <dgm:cxn modelId="{8FFFEAA8-EB2C-4242-8AC6-FF44F75C7EE1}" srcId="{7B5859C1-28E5-47D9-92A7-A522EC86E671}" destId="{0DFDC527-2ED6-4BD3-8DEE-089BE01E3D10}" srcOrd="1" destOrd="0" parTransId="{EF44E731-878F-4ED2-869C-846120CBDFFC}" sibTransId="{B74FD22C-D61E-40B3-862E-444AD7AAF681}"/>
    <dgm:cxn modelId="{0DC7DBD8-ADE4-467C-90AE-B2940066FD34}" type="presOf" srcId="{2A0F0AD5-0828-41A2-9B54-03899B14E332}" destId="{508AF61C-B893-47C3-ADCF-45ECCD31F297}" srcOrd="0" destOrd="0" presId="urn:microsoft.com/office/officeart/2018/2/layout/IconLabelList"/>
    <dgm:cxn modelId="{A7CF6E95-6F16-4609-93E3-1AB08D9DB39A}" type="presParOf" srcId="{A692037F-207C-4003-AA9F-E67EF7CCDBAE}" destId="{858271D9-4F11-43F5-B6A9-AAB8B107E8BB}" srcOrd="0" destOrd="0" presId="urn:microsoft.com/office/officeart/2018/2/layout/IconLabelList"/>
    <dgm:cxn modelId="{04B9B71E-EA61-427A-8FB4-4937C0003D22}" type="presParOf" srcId="{858271D9-4F11-43F5-B6A9-AAB8B107E8BB}" destId="{A1AF91E8-D827-41A7-AD52-A5743DAEE5E1}" srcOrd="0" destOrd="0" presId="urn:microsoft.com/office/officeart/2018/2/layout/IconLabelList"/>
    <dgm:cxn modelId="{EB6F5910-238E-4C0F-8858-57CA129617A5}" type="presParOf" srcId="{858271D9-4F11-43F5-B6A9-AAB8B107E8BB}" destId="{AD74F11D-DB97-4986-92CA-0FD79E3DEEDF}" srcOrd="1" destOrd="0" presId="urn:microsoft.com/office/officeart/2018/2/layout/IconLabelList"/>
    <dgm:cxn modelId="{66F04D56-2B67-43FE-870C-96209831E068}" type="presParOf" srcId="{858271D9-4F11-43F5-B6A9-AAB8B107E8BB}" destId="{850C3851-64F9-4890-9B41-894928FB008E}" srcOrd="2" destOrd="0" presId="urn:microsoft.com/office/officeart/2018/2/layout/IconLabelList"/>
    <dgm:cxn modelId="{05B10B1A-6FBE-4AC8-AD0C-42C58420529C}" type="presParOf" srcId="{A692037F-207C-4003-AA9F-E67EF7CCDBAE}" destId="{068C835E-7278-4312-A203-AC16CFE07C30}" srcOrd="1" destOrd="0" presId="urn:microsoft.com/office/officeart/2018/2/layout/IconLabelList"/>
    <dgm:cxn modelId="{780823AA-CB19-4E91-9BAF-3716D1D48384}" type="presParOf" srcId="{A692037F-207C-4003-AA9F-E67EF7CCDBAE}" destId="{3C3B26A4-BD8C-4DC2-B71D-66694CEC2F1A}" srcOrd="2" destOrd="0" presId="urn:microsoft.com/office/officeart/2018/2/layout/IconLabelList"/>
    <dgm:cxn modelId="{CF505139-3655-4CCD-9418-7ED2091DBD32}" type="presParOf" srcId="{3C3B26A4-BD8C-4DC2-B71D-66694CEC2F1A}" destId="{E91128A7-689E-4494-B442-3EAE27FD28B4}" srcOrd="0" destOrd="0" presId="urn:microsoft.com/office/officeart/2018/2/layout/IconLabelList"/>
    <dgm:cxn modelId="{BEEB3B6E-64CA-4EC3-9C40-012CBDEF5303}" type="presParOf" srcId="{3C3B26A4-BD8C-4DC2-B71D-66694CEC2F1A}" destId="{FC64ADD8-0983-4C27-BB48-258411ABFBBD}" srcOrd="1" destOrd="0" presId="urn:microsoft.com/office/officeart/2018/2/layout/IconLabelList"/>
    <dgm:cxn modelId="{88079001-55E7-483C-A069-26DDE78D70FD}" type="presParOf" srcId="{3C3B26A4-BD8C-4DC2-B71D-66694CEC2F1A}" destId="{EF2828B2-0AB2-439C-A8A7-9123CC44D8BC}" srcOrd="2" destOrd="0" presId="urn:microsoft.com/office/officeart/2018/2/layout/IconLabelList"/>
    <dgm:cxn modelId="{527C0989-24F6-4300-B4E9-B743B88DB979}" type="presParOf" srcId="{A692037F-207C-4003-AA9F-E67EF7CCDBAE}" destId="{CEC5167B-7706-4573-A81E-BC2425E398DD}" srcOrd="3" destOrd="0" presId="urn:microsoft.com/office/officeart/2018/2/layout/IconLabelList"/>
    <dgm:cxn modelId="{C71A40D2-0DFF-4154-B48A-C80E8DCCE0B5}" type="presParOf" srcId="{A692037F-207C-4003-AA9F-E67EF7CCDBAE}" destId="{946F04C2-1E57-4CBB-9C7F-C2724DE6DE7C}" srcOrd="4" destOrd="0" presId="urn:microsoft.com/office/officeart/2018/2/layout/IconLabelList"/>
    <dgm:cxn modelId="{91F274EC-36FF-4310-9203-E787C72E1669}" type="presParOf" srcId="{946F04C2-1E57-4CBB-9C7F-C2724DE6DE7C}" destId="{A5BBA301-D97A-47D0-968E-9093966AFD81}" srcOrd="0" destOrd="0" presId="urn:microsoft.com/office/officeart/2018/2/layout/IconLabelList"/>
    <dgm:cxn modelId="{3A771C4B-247A-4321-84DB-761F55D84280}" type="presParOf" srcId="{946F04C2-1E57-4CBB-9C7F-C2724DE6DE7C}" destId="{427C5D97-30E5-42E8-B516-A62F371B68B7}" srcOrd="1" destOrd="0" presId="urn:microsoft.com/office/officeart/2018/2/layout/IconLabelList"/>
    <dgm:cxn modelId="{5994B549-5AC3-4106-A7A7-175140025ABB}" type="presParOf" srcId="{946F04C2-1E57-4CBB-9C7F-C2724DE6DE7C}" destId="{508AF61C-B893-47C3-ADCF-45ECCD31F29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DF229D4-A3B9-4CC3-A3A5-C3B5093DB83F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052BDE-05C1-4D09-8E20-62D1F2CFD9E6}">
      <dgm:prSet/>
      <dgm:spPr/>
      <dgm:t>
        <a:bodyPr/>
        <a:lstStyle/>
        <a:p>
          <a:r>
            <a:rPr lang="en-AU"/>
            <a:t>A salary packaging arrangement that lets you spend pre‑tax income</a:t>
          </a:r>
          <a:endParaRPr lang="en-US"/>
        </a:p>
      </dgm:t>
    </dgm:pt>
    <dgm:pt modelId="{8AD76566-3ED6-43E7-8E37-D9614146086D}" type="parTrans" cxnId="{A78A95AC-6ACE-4972-98A8-A381B053A03C}">
      <dgm:prSet/>
      <dgm:spPr/>
      <dgm:t>
        <a:bodyPr/>
        <a:lstStyle/>
        <a:p>
          <a:endParaRPr lang="en-US"/>
        </a:p>
      </dgm:t>
    </dgm:pt>
    <dgm:pt modelId="{3BA4B155-2B67-441A-A1FB-FB07E4745F82}" type="sibTrans" cxnId="{A78A95AC-6ACE-4972-98A8-A381B053A03C}">
      <dgm:prSet/>
      <dgm:spPr/>
      <dgm:t>
        <a:bodyPr/>
        <a:lstStyle/>
        <a:p>
          <a:endParaRPr lang="en-US"/>
        </a:p>
      </dgm:t>
    </dgm:pt>
    <dgm:pt modelId="{FCE16799-9251-41D3-A830-23AE8B0B70AC}">
      <dgm:prSet/>
      <dgm:spPr/>
      <dgm:t>
        <a:bodyPr/>
        <a:lstStyle/>
        <a:p>
          <a:r>
            <a:rPr lang="en-AU" b="1"/>
            <a:t>Normally: </a:t>
          </a:r>
          <a:endParaRPr lang="en-US"/>
        </a:p>
      </dgm:t>
    </dgm:pt>
    <dgm:pt modelId="{146956D7-154E-4A3D-9B2C-D73187379B8D}" type="parTrans" cxnId="{1DF888F7-8C1B-4DA1-BCEB-B22E22B4B79D}">
      <dgm:prSet/>
      <dgm:spPr/>
      <dgm:t>
        <a:bodyPr/>
        <a:lstStyle/>
        <a:p>
          <a:endParaRPr lang="en-US"/>
        </a:p>
      </dgm:t>
    </dgm:pt>
    <dgm:pt modelId="{D11F0776-7A75-4D13-869A-5D4F1C05A2A6}" type="sibTrans" cxnId="{1DF888F7-8C1B-4DA1-BCEB-B22E22B4B79D}">
      <dgm:prSet/>
      <dgm:spPr/>
      <dgm:t>
        <a:bodyPr/>
        <a:lstStyle/>
        <a:p>
          <a:endParaRPr lang="en-US"/>
        </a:p>
      </dgm:t>
    </dgm:pt>
    <dgm:pt modelId="{7068DDA5-5787-41E9-9BBD-83F6BD1D1319}">
      <dgm:prSet/>
      <dgm:spPr/>
      <dgm:t>
        <a:bodyPr/>
        <a:lstStyle/>
        <a:p>
          <a:r>
            <a:rPr lang="en-AU"/>
            <a:t>pre-tax income → tax withheld → post-tax money → spend on car</a:t>
          </a:r>
          <a:endParaRPr lang="en-US"/>
        </a:p>
      </dgm:t>
    </dgm:pt>
    <dgm:pt modelId="{985F8FFE-8963-44D5-9209-2C157CFA2C3B}" type="parTrans" cxnId="{1C9B37CF-7A7C-4A6F-80F8-C0D24B1AF47F}">
      <dgm:prSet/>
      <dgm:spPr/>
      <dgm:t>
        <a:bodyPr/>
        <a:lstStyle/>
        <a:p>
          <a:endParaRPr lang="en-US"/>
        </a:p>
      </dgm:t>
    </dgm:pt>
    <dgm:pt modelId="{E06B269A-6A23-4D72-8345-FEFF143CC60E}" type="sibTrans" cxnId="{1C9B37CF-7A7C-4A6F-80F8-C0D24B1AF47F}">
      <dgm:prSet/>
      <dgm:spPr/>
      <dgm:t>
        <a:bodyPr/>
        <a:lstStyle/>
        <a:p>
          <a:endParaRPr lang="en-US"/>
        </a:p>
      </dgm:t>
    </dgm:pt>
    <dgm:pt modelId="{62196DB1-76F3-4C4A-A41F-87FF1A0C1AE4}">
      <dgm:prSet/>
      <dgm:spPr/>
      <dgm:t>
        <a:bodyPr/>
        <a:lstStyle/>
        <a:p>
          <a:r>
            <a:rPr lang="en-AU" b="1"/>
            <a:t>Novated Lease: </a:t>
          </a:r>
          <a:endParaRPr lang="en-US"/>
        </a:p>
      </dgm:t>
    </dgm:pt>
    <dgm:pt modelId="{5FC6F77A-890A-4288-A80A-C1C5A32A5C27}" type="parTrans" cxnId="{697FA5BD-BC8D-4F54-80D0-67B1F45A443C}">
      <dgm:prSet/>
      <dgm:spPr/>
      <dgm:t>
        <a:bodyPr/>
        <a:lstStyle/>
        <a:p>
          <a:endParaRPr lang="en-US"/>
        </a:p>
      </dgm:t>
    </dgm:pt>
    <dgm:pt modelId="{9C97615E-6A41-451A-985D-5FBCCF2D37CA}" type="sibTrans" cxnId="{697FA5BD-BC8D-4F54-80D0-67B1F45A443C}">
      <dgm:prSet/>
      <dgm:spPr/>
      <dgm:t>
        <a:bodyPr/>
        <a:lstStyle/>
        <a:p>
          <a:endParaRPr lang="en-US"/>
        </a:p>
      </dgm:t>
    </dgm:pt>
    <dgm:pt modelId="{91546CD8-3585-40E4-A33A-845593C1C4AA}">
      <dgm:prSet/>
      <dgm:spPr/>
      <dgm:t>
        <a:bodyPr/>
        <a:lstStyle/>
        <a:p>
          <a:r>
            <a:rPr lang="en-AU"/>
            <a:t>pre-tax income → some spent on car → tax withheld on the remainder → post-tax money</a:t>
          </a:r>
          <a:endParaRPr lang="en-US"/>
        </a:p>
      </dgm:t>
    </dgm:pt>
    <dgm:pt modelId="{D24179A3-7F9B-423A-A853-B62A560AE33D}" type="parTrans" cxnId="{0D6A39DF-C774-40D4-8035-9B25CE651E58}">
      <dgm:prSet/>
      <dgm:spPr/>
      <dgm:t>
        <a:bodyPr/>
        <a:lstStyle/>
        <a:p>
          <a:endParaRPr lang="en-US"/>
        </a:p>
      </dgm:t>
    </dgm:pt>
    <dgm:pt modelId="{89C3E0E6-1DA4-4437-8468-365C924DA703}" type="sibTrans" cxnId="{0D6A39DF-C774-40D4-8035-9B25CE651E58}">
      <dgm:prSet/>
      <dgm:spPr/>
      <dgm:t>
        <a:bodyPr/>
        <a:lstStyle/>
        <a:p>
          <a:endParaRPr lang="en-US"/>
        </a:p>
      </dgm:t>
    </dgm:pt>
    <dgm:pt modelId="{E5F4BFB8-693C-454E-B634-7ABD8BEB7F68}">
      <dgm:prSet/>
      <dgm:spPr/>
      <dgm:t>
        <a:bodyPr/>
        <a:lstStyle/>
        <a:p>
          <a:r>
            <a:rPr lang="en-AU" b="1"/>
            <a:t>Net effect: a discount equal to your marginal tax rate plus the Medicare levy:</a:t>
          </a:r>
          <a:endParaRPr lang="en-US"/>
        </a:p>
      </dgm:t>
    </dgm:pt>
    <dgm:pt modelId="{99DBBCA5-7909-4A31-A06E-BA676BFFC3E3}" type="parTrans" cxnId="{3F526733-1C71-4264-992E-4B0E0E2B357A}">
      <dgm:prSet/>
      <dgm:spPr/>
      <dgm:t>
        <a:bodyPr/>
        <a:lstStyle/>
        <a:p>
          <a:endParaRPr lang="en-US"/>
        </a:p>
      </dgm:t>
    </dgm:pt>
    <dgm:pt modelId="{B6106695-AE33-4A52-B598-2F21B43EB10F}" type="sibTrans" cxnId="{3F526733-1C71-4264-992E-4B0E0E2B357A}">
      <dgm:prSet/>
      <dgm:spPr/>
      <dgm:t>
        <a:bodyPr/>
        <a:lstStyle/>
        <a:p>
          <a:endParaRPr lang="en-US"/>
        </a:p>
      </dgm:t>
    </dgm:pt>
    <dgm:pt modelId="{D52E0F8E-93E6-4185-B240-EAC26CAD9296}">
      <dgm:prSet/>
      <dgm:spPr/>
      <dgm:t>
        <a:bodyPr/>
        <a:lstStyle/>
        <a:p>
          <a:r>
            <a:rPr lang="en-AU"/>
            <a:t>30% tax bracket → 32% effective discount</a:t>
          </a:r>
          <a:endParaRPr lang="en-US"/>
        </a:p>
      </dgm:t>
    </dgm:pt>
    <dgm:pt modelId="{E5D0F411-3A08-4CA8-AC06-1A62BA445B2E}" type="parTrans" cxnId="{7B8640D6-F2BF-4081-B42B-5D3E6CFA968D}">
      <dgm:prSet/>
      <dgm:spPr/>
      <dgm:t>
        <a:bodyPr/>
        <a:lstStyle/>
        <a:p>
          <a:endParaRPr lang="en-US"/>
        </a:p>
      </dgm:t>
    </dgm:pt>
    <dgm:pt modelId="{E4350AAD-4326-4771-A31F-873494C0D22E}" type="sibTrans" cxnId="{7B8640D6-F2BF-4081-B42B-5D3E6CFA968D}">
      <dgm:prSet/>
      <dgm:spPr/>
      <dgm:t>
        <a:bodyPr/>
        <a:lstStyle/>
        <a:p>
          <a:endParaRPr lang="en-US"/>
        </a:p>
      </dgm:t>
    </dgm:pt>
    <dgm:pt modelId="{8BD35594-54E5-434A-9397-F0D9EE06CC99}">
      <dgm:prSet/>
      <dgm:spPr/>
      <dgm:t>
        <a:bodyPr/>
        <a:lstStyle/>
        <a:p>
          <a:r>
            <a:rPr lang="en-AU"/>
            <a:t>37% tax bracket → 39% effective discount</a:t>
          </a:r>
          <a:endParaRPr lang="en-US"/>
        </a:p>
      </dgm:t>
    </dgm:pt>
    <dgm:pt modelId="{2CB70608-AE5A-497F-8939-1B250CABFE88}" type="parTrans" cxnId="{C7FBCDEF-8678-4AE9-8D6B-A3449387D930}">
      <dgm:prSet/>
      <dgm:spPr/>
      <dgm:t>
        <a:bodyPr/>
        <a:lstStyle/>
        <a:p>
          <a:endParaRPr lang="en-US"/>
        </a:p>
      </dgm:t>
    </dgm:pt>
    <dgm:pt modelId="{ACF7FFE8-05D2-47AD-B85A-09ED0C52B917}" type="sibTrans" cxnId="{C7FBCDEF-8678-4AE9-8D6B-A3449387D930}">
      <dgm:prSet/>
      <dgm:spPr/>
      <dgm:t>
        <a:bodyPr/>
        <a:lstStyle/>
        <a:p>
          <a:endParaRPr lang="en-US"/>
        </a:p>
      </dgm:t>
    </dgm:pt>
    <dgm:pt modelId="{13795C66-561B-424C-987B-EAFA57069B7A}">
      <dgm:prSet/>
      <dgm:spPr/>
      <dgm:t>
        <a:bodyPr/>
        <a:lstStyle/>
        <a:p>
          <a:r>
            <a:rPr lang="en-AU"/>
            <a:t>45% tax bracket → 47% effective discount</a:t>
          </a:r>
          <a:endParaRPr lang="en-US"/>
        </a:p>
      </dgm:t>
    </dgm:pt>
    <dgm:pt modelId="{F4491FE9-0EFA-4F24-986C-605565F5475B}" type="parTrans" cxnId="{EF6F1327-7D3B-4DF2-AB5C-5DFA82CB0116}">
      <dgm:prSet/>
      <dgm:spPr/>
      <dgm:t>
        <a:bodyPr/>
        <a:lstStyle/>
        <a:p>
          <a:endParaRPr lang="en-US"/>
        </a:p>
      </dgm:t>
    </dgm:pt>
    <dgm:pt modelId="{8E88F46D-5D8D-41E9-AE35-1FE5A04731CE}" type="sibTrans" cxnId="{EF6F1327-7D3B-4DF2-AB5C-5DFA82CB0116}">
      <dgm:prSet/>
      <dgm:spPr/>
      <dgm:t>
        <a:bodyPr/>
        <a:lstStyle/>
        <a:p>
          <a:endParaRPr lang="en-US"/>
        </a:p>
      </dgm:t>
    </dgm:pt>
    <dgm:pt modelId="{13C2E903-FD8A-AC49-8181-DCFE52C49F3E}" type="pres">
      <dgm:prSet presAssocID="{EDF229D4-A3B9-4CC3-A3A5-C3B5093DB83F}" presName="Name0" presStyleCnt="0">
        <dgm:presLayoutVars>
          <dgm:dir/>
          <dgm:animLvl val="lvl"/>
          <dgm:resizeHandles val="exact"/>
        </dgm:presLayoutVars>
      </dgm:prSet>
      <dgm:spPr/>
    </dgm:pt>
    <dgm:pt modelId="{22224EDB-1BD3-3E49-9A02-7A3FE26699C4}" type="pres">
      <dgm:prSet presAssocID="{85052BDE-05C1-4D09-8E20-62D1F2CFD9E6}" presName="linNode" presStyleCnt="0"/>
      <dgm:spPr/>
    </dgm:pt>
    <dgm:pt modelId="{F2D2D62A-A48F-AD4B-BCD7-57BBD3F3AC99}" type="pres">
      <dgm:prSet presAssocID="{85052BDE-05C1-4D09-8E20-62D1F2CFD9E6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964B3A64-1CDD-3747-8F9F-A4563FBDC206}" type="pres">
      <dgm:prSet presAssocID="{3BA4B155-2B67-441A-A1FB-FB07E4745F82}" presName="sp" presStyleCnt="0"/>
      <dgm:spPr/>
    </dgm:pt>
    <dgm:pt modelId="{49956D1C-C926-774C-BAC1-54C473D51370}" type="pres">
      <dgm:prSet presAssocID="{FCE16799-9251-41D3-A830-23AE8B0B70AC}" presName="linNode" presStyleCnt="0"/>
      <dgm:spPr/>
    </dgm:pt>
    <dgm:pt modelId="{EB3414AE-ACB1-0C45-BE38-93B984CBAB4B}" type="pres">
      <dgm:prSet presAssocID="{FCE16799-9251-41D3-A830-23AE8B0B70AC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61B088E-D5B3-144E-B979-6223D570A87D}" type="pres">
      <dgm:prSet presAssocID="{FCE16799-9251-41D3-A830-23AE8B0B70AC}" presName="descendantText" presStyleLbl="alignAccFollowNode1" presStyleIdx="0" presStyleCnt="3">
        <dgm:presLayoutVars>
          <dgm:bulletEnabled val="1"/>
        </dgm:presLayoutVars>
      </dgm:prSet>
      <dgm:spPr/>
    </dgm:pt>
    <dgm:pt modelId="{464A591F-A925-8B4A-AE29-AADCE66CE754}" type="pres">
      <dgm:prSet presAssocID="{D11F0776-7A75-4D13-869A-5D4F1C05A2A6}" presName="sp" presStyleCnt="0"/>
      <dgm:spPr/>
    </dgm:pt>
    <dgm:pt modelId="{52F4CDC0-EDBC-CF4A-A080-62B6611E11D3}" type="pres">
      <dgm:prSet presAssocID="{62196DB1-76F3-4C4A-A41F-87FF1A0C1AE4}" presName="linNode" presStyleCnt="0"/>
      <dgm:spPr/>
    </dgm:pt>
    <dgm:pt modelId="{4E4ACBBE-2560-EF4F-AF21-41F46AC89BF7}" type="pres">
      <dgm:prSet presAssocID="{62196DB1-76F3-4C4A-A41F-87FF1A0C1AE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D75117D0-CE45-C449-B052-F62AD9CDCC8A}" type="pres">
      <dgm:prSet presAssocID="{62196DB1-76F3-4C4A-A41F-87FF1A0C1AE4}" presName="descendantText" presStyleLbl="alignAccFollowNode1" presStyleIdx="1" presStyleCnt="3">
        <dgm:presLayoutVars>
          <dgm:bulletEnabled val="1"/>
        </dgm:presLayoutVars>
      </dgm:prSet>
      <dgm:spPr/>
    </dgm:pt>
    <dgm:pt modelId="{CA0CE099-1F75-1547-96A7-E00A92E6D405}" type="pres">
      <dgm:prSet presAssocID="{9C97615E-6A41-451A-985D-5FBCCF2D37CA}" presName="sp" presStyleCnt="0"/>
      <dgm:spPr/>
    </dgm:pt>
    <dgm:pt modelId="{B788AA1E-A375-7049-AECA-56B1CB723DC4}" type="pres">
      <dgm:prSet presAssocID="{E5F4BFB8-693C-454E-B634-7ABD8BEB7F68}" presName="linNode" presStyleCnt="0"/>
      <dgm:spPr/>
    </dgm:pt>
    <dgm:pt modelId="{DA09BCCE-F877-FB40-96F6-131A4D9A29B3}" type="pres">
      <dgm:prSet presAssocID="{E5F4BFB8-693C-454E-B634-7ABD8BEB7F68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ACBA3084-A6CD-1C45-92D2-5335A8BFF3D3}" type="pres">
      <dgm:prSet presAssocID="{E5F4BFB8-693C-454E-B634-7ABD8BEB7F68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9E9DBE01-D3C2-7D4F-BEFA-E42E146AB8EA}" type="presOf" srcId="{13795C66-561B-424C-987B-EAFA57069B7A}" destId="{ACBA3084-A6CD-1C45-92D2-5335A8BFF3D3}" srcOrd="0" destOrd="2" presId="urn:microsoft.com/office/officeart/2005/8/layout/vList5"/>
    <dgm:cxn modelId="{BFADB020-E244-2648-A4BA-E7C740C93EA8}" type="presOf" srcId="{91546CD8-3585-40E4-A33A-845593C1C4AA}" destId="{D75117D0-CE45-C449-B052-F62AD9CDCC8A}" srcOrd="0" destOrd="0" presId="urn:microsoft.com/office/officeart/2005/8/layout/vList5"/>
    <dgm:cxn modelId="{EF6F1327-7D3B-4DF2-AB5C-5DFA82CB0116}" srcId="{E5F4BFB8-693C-454E-B634-7ABD8BEB7F68}" destId="{13795C66-561B-424C-987B-EAFA57069B7A}" srcOrd="2" destOrd="0" parTransId="{F4491FE9-0EFA-4F24-986C-605565F5475B}" sibTransId="{8E88F46D-5D8D-41E9-AE35-1FE5A04731CE}"/>
    <dgm:cxn modelId="{5BAB7B27-732B-F74A-A14B-1EBC8262F518}" type="presOf" srcId="{FCE16799-9251-41D3-A830-23AE8B0B70AC}" destId="{EB3414AE-ACB1-0C45-BE38-93B984CBAB4B}" srcOrd="0" destOrd="0" presId="urn:microsoft.com/office/officeart/2005/8/layout/vList5"/>
    <dgm:cxn modelId="{3F526733-1C71-4264-992E-4B0E0E2B357A}" srcId="{EDF229D4-A3B9-4CC3-A3A5-C3B5093DB83F}" destId="{E5F4BFB8-693C-454E-B634-7ABD8BEB7F68}" srcOrd="3" destOrd="0" parTransId="{99DBBCA5-7909-4A31-A06E-BA676BFFC3E3}" sibTransId="{B6106695-AE33-4A52-B598-2F21B43EB10F}"/>
    <dgm:cxn modelId="{E4E64538-5C01-6F42-AE6D-EE0CB11B5300}" type="presOf" srcId="{85052BDE-05C1-4D09-8E20-62D1F2CFD9E6}" destId="{F2D2D62A-A48F-AD4B-BCD7-57BBD3F3AC99}" srcOrd="0" destOrd="0" presId="urn:microsoft.com/office/officeart/2005/8/layout/vList5"/>
    <dgm:cxn modelId="{9C77315D-DE90-DC45-ACED-601622C50EC0}" type="presOf" srcId="{D52E0F8E-93E6-4185-B240-EAC26CAD9296}" destId="{ACBA3084-A6CD-1C45-92D2-5335A8BFF3D3}" srcOrd="0" destOrd="0" presId="urn:microsoft.com/office/officeart/2005/8/layout/vList5"/>
    <dgm:cxn modelId="{625D1494-8240-824A-8940-586CE471CFD8}" type="presOf" srcId="{62196DB1-76F3-4C4A-A41F-87FF1A0C1AE4}" destId="{4E4ACBBE-2560-EF4F-AF21-41F46AC89BF7}" srcOrd="0" destOrd="0" presId="urn:microsoft.com/office/officeart/2005/8/layout/vList5"/>
    <dgm:cxn modelId="{A78A95AC-6ACE-4972-98A8-A381B053A03C}" srcId="{EDF229D4-A3B9-4CC3-A3A5-C3B5093DB83F}" destId="{85052BDE-05C1-4D09-8E20-62D1F2CFD9E6}" srcOrd="0" destOrd="0" parTransId="{8AD76566-3ED6-43E7-8E37-D9614146086D}" sibTransId="{3BA4B155-2B67-441A-A1FB-FB07E4745F82}"/>
    <dgm:cxn modelId="{0BD627B5-A8D4-5E45-940E-FA8DDCA4B964}" type="presOf" srcId="{EDF229D4-A3B9-4CC3-A3A5-C3B5093DB83F}" destId="{13C2E903-FD8A-AC49-8181-DCFE52C49F3E}" srcOrd="0" destOrd="0" presId="urn:microsoft.com/office/officeart/2005/8/layout/vList5"/>
    <dgm:cxn modelId="{D4ADD7B9-3159-5A4D-9B05-72CC08EF23F8}" type="presOf" srcId="{8BD35594-54E5-434A-9397-F0D9EE06CC99}" destId="{ACBA3084-A6CD-1C45-92D2-5335A8BFF3D3}" srcOrd="0" destOrd="1" presId="urn:microsoft.com/office/officeart/2005/8/layout/vList5"/>
    <dgm:cxn modelId="{697FA5BD-BC8D-4F54-80D0-67B1F45A443C}" srcId="{EDF229D4-A3B9-4CC3-A3A5-C3B5093DB83F}" destId="{62196DB1-76F3-4C4A-A41F-87FF1A0C1AE4}" srcOrd="2" destOrd="0" parTransId="{5FC6F77A-890A-4288-A80A-C1C5A32A5C27}" sibTransId="{9C97615E-6A41-451A-985D-5FBCCF2D37CA}"/>
    <dgm:cxn modelId="{1C9B37CF-7A7C-4A6F-80F8-C0D24B1AF47F}" srcId="{FCE16799-9251-41D3-A830-23AE8B0B70AC}" destId="{7068DDA5-5787-41E9-9BBD-83F6BD1D1319}" srcOrd="0" destOrd="0" parTransId="{985F8FFE-8963-44D5-9209-2C157CFA2C3B}" sibTransId="{E06B269A-6A23-4D72-8345-FEFF143CC60E}"/>
    <dgm:cxn modelId="{7B8640D6-F2BF-4081-B42B-5D3E6CFA968D}" srcId="{E5F4BFB8-693C-454E-B634-7ABD8BEB7F68}" destId="{D52E0F8E-93E6-4185-B240-EAC26CAD9296}" srcOrd="0" destOrd="0" parTransId="{E5D0F411-3A08-4CA8-AC06-1A62BA445B2E}" sibTransId="{E4350AAD-4326-4771-A31F-873494C0D22E}"/>
    <dgm:cxn modelId="{0D6A39DF-C774-40D4-8035-9B25CE651E58}" srcId="{62196DB1-76F3-4C4A-A41F-87FF1A0C1AE4}" destId="{91546CD8-3585-40E4-A33A-845593C1C4AA}" srcOrd="0" destOrd="0" parTransId="{D24179A3-7F9B-423A-A853-B62A560AE33D}" sibTransId="{89C3E0E6-1DA4-4437-8468-365C924DA703}"/>
    <dgm:cxn modelId="{E9BFD4ED-E128-5C48-B7B4-A721333214C3}" type="presOf" srcId="{E5F4BFB8-693C-454E-B634-7ABD8BEB7F68}" destId="{DA09BCCE-F877-FB40-96F6-131A4D9A29B3}" srcOrd="0" destOrd="0" presId="urn:microsoft.com/office/officeart/2005/8/layout/vList5"/>
    <dgm:cxn modelId="{599C1DEF-2BAF-6C48-ABA6-09DBD297E826}" type="presOf" srcId="{7068DDA5-5787-41E9-9BBD-83F6BD1D1319}" destId="{E61B088E-D5B3-144E-B979-6223D570A87D}" srcOrd="0" destOrd="0" presId="urn:microsoft.com/office/officeart/2005/8/layout/vList5"/>
    <dgm:cxn modelId="{C7FBCDEF-8678-4AE9-8D6B-A3449387D930}" srcId="{E5F4BFB8-693C-454E-B634-7ABD8BEB7F68}" destId="{8BD35594-54E5-434A-9397-F0D9EE06CC99}" srcOrd="1" destOrd="0" parTransId="{2CB70608-AE5A-497F-8939-1B250CABFE88}" sibTransId="{ACF7FFE8-05D2-47AD-B85A-09ED0C52B917}"/>
    <dgm:cxn modelId="{1DF888F7-8C1B-4DA1-BCEB-B22E22B4B79D}" srcId="{EDF229D4-A3B9-4CC3-A3A5-C3B5093DB83F}" destId="{FCE16799-9251-41D3-A830-23AE8B0B70AC}" srcOrd="1" destOrd="0" parTransId="{146956D7-154E-4A3D-9B2C-D73187379B8D}" sibTransId="{D11F0776-7A75-4D13-869A-5D4F1C05A2A6}"/>
    <dgm:cxn modelId="{ECE92C78-EAEA-9241-A9DE-DB0F6A487B3D}" type="presParOf" srcId="{13C2E903-FD8A-AC49-8181-DCFE52C49F3E}" destId="{22224EDB-1BD3-3E49-9A02-7A3FE26699C4}" srcOrd="0" destOrd="0" presId="urn:microsoft.com/office/officeart/2005/8/layout/vList5"/>
    <dgm:cxn modelId="{B35EE4D3-4014-EE42-A66F-1BC40E51BFBB}" type="presParOf" srcId="{22224EDB-1BD3-3E49-9A02-7A3FE26699C4}" destId="{F2D2D62A-A48F-AD4B-BCD7-57BBD3F3AC99}" srcOrd="0" destOrd="0" presId="urn:microsoft.com/office/officeart/2005/8/layout/vList5"/>
    <dgm:cxn modelId="{4F3F7D95-C2CD-FA40-A599-C207B339FD69}" type="presParOf" srcId="{13C2E903-FD8A-AC49-8181-DCFE52C49F3E}" destId="{964B3A64-1CDD-3747-8F9F-A4563FBDC206}" srcOrd="1" destOrd="0" presId="urn:microsoft.com/office/officeart/2005/8/layout/vList5"/>
    <dgm:cxn modelId="{F2B6C20B-331B-514E-BA3D-51F8E90BEB7F}" type="presParOf" srcId="{13C2E903-FD8A-AC49-8181-DCFE52C49F3E}" destId="{49956D1C-C926-774C-BAC1-54C473D51370}" srcOrd="2" destOrd="0" presId="urn:microsoft.com/office/officeart/2005/8/layout/vList5"/>
    <dgm:cxn modelId="{F2BA2906-4B25-B044-92D3-9FD205EFC59F}" type="presParOf" srcId="{49956D1C-C926-774C-BAC1-54C473D51370}" destId="{EB3414AE-ACB1-0C45-BE38-93B984CBAB4B}" srcOrd="0" destOrd="0" presId="urn:microsoft.com/office/officeart/2005/8/layout/vList5"/>
    <dgm:cxn modelId="{F3EB539B-14B3-014B-AA2B-0986ED2DBCE2}" type="presParOf" srcId="{49956D1C-C926-774C-BAC1-54C473D51370}" destId="{E61B088E-D5B3-144E-B979-6223D570A87D}" srcOrd="1" destOrd="0" presId="urn:microsoft.com/office/officeart/2005/8/layout/vList5"/>
    <dgm:cxn modelId="{AB7DD519-17D0-A542-8D23-944E93838EAF}" type="presParOf" srcId="{13C2E903-FD8A-AC49-8181-DCFE52C49F3E}" destId="{464A591F-A925-8B4A-AE29-AADCE66CE754}" srcOrd="3" destOrd="0" presId="urn:microsoft.com/office/officeart/2005/8/layout/vList5"/>
    <dgm:cxn modelId="{74DA60E0-6208-F04F-8058-893AECC4011B}" type="presParOf" srcId="{13C2E903-FD8A-AC49-8181-DCFE52C49F3E}" destId="{52F4CDC0-EDBC-CF4A-A080-62B6611E11D3}" srcOrd="4" destOrd="0" presId="urn:microsoft.com/office/officeart/2005/8/layout/vList5"/>
    <dgm:cxn modelId="{7B561850-41DC-3548-8773-6E9FD1D23DC0}" type="presParOf" srcId="{52F4CDC0-EDBC-CF4A-A080-62B6611E11D3}" destId="{4E4ACBBE-2560-EF4F-AF21-41F46AC89BF7}" srcOrd="0" destOrd="0" presId="urn:microsoft.com/office/officeart/2005/8/layout/vList5"/>
    <dgm:cxn modelId="{862555E9-7952-B340-A7B7-3E5CA9285B75}" type="presParOf" srcId="{52F4CDC0-EDBC-CF4A-A080-62B6611E11D3}" destId="{D75117D0-CE45-C449-B052-F62AD9CDCC8A}" srcOrd="1" destOrd="0" presId="urn:microsoft.com/office/officeart/2005/8/layout/vList5"/>
    <dgm:cxn modelId="{BFDEC942-7DAE-2D4E-8612-686AFEA8CE40}" type="presParOf" srcId="{13C2E903-FD8A-AC49-8181-DCFE52C49F3E}" destId="{CA0CE099-1F75-1547-96A7-E00A92E6D405}" srcOrd="5" destOrd="0" presId="urn:microsoft.com/office/officeart/2005/8/layout/vList5"/>
    <dgm:cxn modelId="{767C1CA0-0DA5-7448-8D5B-2B1AD1441B45}" type="presParOf" srcId="{13C2E903-FD8A-AC49-8181-DCFE52C49F3E}" destId="{B788AA1E-A375-7049-AECA-56B1CB723DC4}" srcOrd="6" destOrd="0" presId="urn:microsoft.com/office/officeart/2005/8/layout/vList5"/>
    <dgm:cxn modelId="{C65D3917-AA6A-9243-9033-0192F97A32EA}" type="presParOf" srcId="{B788AA1E-A375-7049-AECA-56B1CB723DC4}" destId="{DA09BCCE-F877-FB40-96F6-131A4D9A29B3}" srcOrd="0" destOrd="0" presId="urn:microsoft.com/office/officeart/2005/8/layout/vList5"/>
    <dgm:cxn modelId="{87139EF8-8EEA-DC4F-94B3-603D84FBFD79}" type="presParOf" srcId="{B788AA1E-A375-7049-AECA-56B1CB723DC4}" destId="{ACBA3084-A6CD-1C45-92D2-5335A8BFF3D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5B8B9AE-B8B8-45A9-B322-57B26431057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A9BECD-F83C-47DD-8351-234B1F8BB0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Higher tax brackets</a:t>
          </a:r>
        </a:p>
      </dgm:t>
    </dgm:pt>
    <dgm:pt modelId="{49060D36-F536-4ACA-893F-907C9A1A86AB}" type="parTrans" cxnId="{C374BA8D-8296-49B4-B04E-E6E845E811EF}">
      <dgm:prSet/>
      <dgm:spPr/>
      <dgm:t>
        <a:bodyPr/>
        <a:lstStyle/>
        <a:p>
          <a:endParaRPr lang="en-US"/>
        </a:p>
      </dgm:t>
    </dgm:pt>
    <dgm:pt modelId="{A38C82B9-CF48-4A0A-91D6-6C08BE7300FB}" type="sibTrans" cxnId="{C374BA8D-8296-49B4-B04E-E6E845E811E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DD49B2B-51B2-4423-AAFB-00C33829CC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Stable employment</a:t>
          </a:r>
        </a:p>
      </dgm:t>
    </dgm:pt>
    <dgm:pt modelId="{71E85B6A-0EE7-438C-8E95-04882BE282D3}" type="parTrans" cxnId="{62DF49C0-7118-4BE2-921E-4CAE1920CBF1}">
      <dgm:prSet/>
      <dgm:spPr/>
      <dgm:t>
        <a:bodyPr/>
        <a:lstStyle/>
        <a:p>
          <a:endParaRPr lang="en-US"/>
        </a:p>
      </dgm:t>
    </dgm:pt>
    <dgm:pt modelId="{BA248614-55D7-46FE-9355-4CC463B5FC36}" type="sibTrans" cxnId="{62DF49C0-7118-4BE2-921E-4CAE1920CB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AE79890-A4AA-4410-A927-56B5E97F8E3D}">
      <dgm:prSet/>
      <dgm:spPr/>
      <dgm:t>
        <a:bodyPr/>
        <a:lstStyle/>
        <a:p>
          <a:pPr>
            <a:lnSpc>
              <a:spcPct val="100000"/>
            </a:lnSpc>
          </a:pPr>
          <a:r>
            <a:rPr lang="en-AU"/>
            <a:t>Have a h</a:t>
          </a:r>
          <a:r>
            <a:rPr lang="en-US"/>
            <a:t>ome loan offset</a:t>
          </a:r>
        </a:p>
      </dgm:t>
    </dgm:pt>
    <dgm:pt modelId="{4A81ABFF-A120-45F2-AB5C-10772D6C26EC}" type="parTrans" cxnId="{E493D34C-6D05-4CB6-9630-710D50050738}">
      <dgm:prSet/>
      <dgm:spPr/>
      <dgm:t>
        <a:bodyPr/>
        <a:lstStyle/>
        <a:p>
          <a:endParaRPr lang="en-US"/>
        </a:p>
      </dgm:t>
    </dgm:pt>
    <dgm:pt modelId="{3742BBAF-C86A-4883-8536-9803BED57A14}" type="sibTrans" cxnId="{E493D34C-6D05-4CB6-9630-710D5005073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F441FD0-34FB-4270-A274-2453FE1E3F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Have a cash buffer</a:t>
          </a:r>
          <a:r>
            <a:rPr lang="en-AU" dirty="0"/>
            <a:t> to pay out balloon</a:t>
          </a:r>
          <a:endParaRPr lang="en-US" dirty="0"/>
        </a:p>
      </dgm:t>
    </dgm:pt>
    <dgm:pt modelId="{EBAD2BEB-2E64-482A-BB0B-8A8B4B7CA09C}" type="parTrans" cxnId="{B9AEA231-475C-4B5B-BE57-A806B6FF7E6F}">
      <dgm:prSet/>
      <dgm:spPr/>
      <dgm:t>
        <a:bodyPr/>
        <a:lstStyle/>
        <a:p>
          <a:endParaRPr lang="en-US"/>
        </a:p>
      </dgm:t>
    </dgm:pt>
    <dgm:pt modelId="{36864D11-39D4-493D-9320-A7BD16B1CCA1}" type="sibTrans" cxnId="{B9AEA231-475C-4B5B-BE57-A806B6FF7E6F}">
      <dgm:prSet/>
      <dgm:spPr/>
      <dgm:t>
        <a:bodyPr/>
        <a:lstStyle/>
        <a:p>
          <a:endParaRPr lang="en-US"/>
        </a:p>
      </dgm:t>
    </dgm:pt>
    <dgm:pt modelId="{2702F252-0DE0-45DA-8B02-763827B8FEDB}" type="pres">
      <dgm:prSet presAssocID="{65B8B9AE-B8B8-45A9-B322-57B264310577}" presName="root" presStyleCnt="0">
        <dgm:presLayoutVars>
          <dgm:dir/>
          <dgm:resizeHandles val="exact"/>
        </dgm:presLayoutVars>
      </dgm:prSet>
      <dgm:spPr/>
    </dgm:pt>
    <dgm:pt modelId="{21072FDB-4E54-4825-91F5-8A22C0E91777}" type="pres">
      <dgm:prSet presAssocID="{65B8B9AE-B8B8-45A9-B322-57B264310577}" presName="container" presStyleCnt="0">
        <dgm:presLayoutVars>
          <dgm:dir/>
          <dgm:resizeHandles val="exact"/>
        </dgm:presLayoutVars>
      </dgm:prSet>
      <dgm:spPr/>
    </dgm:pt>
    <dgm:pt modelId="{177BD658-A88B-4640-8028-D703368DC83E}" type="pres">
      <dgm:prSet presAssocID="{5EA9BECD-F83C-47DD-8351-234B1F8BB074}" presName="compNode" presStyleCnt="0"/>
      <dgm:spPr/>
    </dgm:pt>
    <dgm:pt modelId="{1364EA4A-FABA-4A74-B6B7-E1548A58384F}" type="pres">
      <dgm:prSet presAssocID="{5EA9BECD-F83C-47DD-8351-234B1F8BB074}" presName="iconBgRect" presStyleLbl="bgShp" presStyleIdx="0" presStyleCnt="4"/>
      <dgm:spPr/>
    </dgm:pt>
    <dgm:pt modelId="{CFB2E97B-78F4-48F8-A13E-AA1A2FB5FEF0}" type="pres">
      <dgm:prSet presAssocID="{5EA9BECD-F83C-47DD-8351-234B1F8BB07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9F731A2-BD5E-4566-A17B-DDA47DCF75F9}" type="pres">
      <dgm:prSet presAssocID="{5EA9BECD-F83C-47DD-8351-234B1F8BB074}" presName="spaceRect" presStyleCnt="0"/>
      <dgm:spPr/>
    </dgm:pt>
    <dgm:pt modelId="{1434C0A9-0361-4B7A-A8ED-2EE1AB21B88E}" type="pres">
      <dgm:prSet presAssocID="{5EA9BECD-F83C-47DD-8351-234B1F8BB074}" presName="textRect" presStyleLbl="revTx" presStyleIdx="0" presStyleCnt="4">
        <dgm:presLayoutVars>
          <dgm:chMax val="1"/>
          <dgm:chPref val="1"/>
        </dgm:presLayoutVars>
      </dgm:prSet>
      <dgm:spPr/>
    </dgm:pt>
    <dgm:pt modelId="{11121821-EEF2-43EB-AF4A-90247E26CC4F}" type="pres">
      <dgm:prSet presAssocID="{A38C82B9-CF48-4A0A-91D6-6C08BE7300FB}" presName="sibTrans" presStyleLbl="sibTrans2D1" presStyleIdx="0" presStyleCnt="0"/>
      <dgm:spPr/>
    </dgm:pt>
    <dgm:pt modelId="{D7493E03-379C-43D1-A0E4-6632D5F1E5E5}" type="pres">
      <dgm:prSet presAssocID="{DDD49B2B-51B2-4423-AAFB-00C33829CC8D}" presName="compNode" presStyleCnt="0"/>
      <dgm:spPr/>
    </dgm:pt>
    <dgm:pt modelId="{AEA0E9DA-FA43-4865-BC2B-9CACE7CA7535}" type="pres">
      <dgm:prSet presAssocID="{DDD49B2B-51B2-4423-AAFB-00C33829CC8D}" presName="iconBgRect" presStyleLbl="bgShp" presStyleIdx="1" presStyleCnt="4"/>
      <dgm:spPr/>
    </dgm:pt>
    <dgm:pt modelId="{E5DC2B56-59B8-400B-BA6A-FD4032D8FB75}" type="pres">
      <dgm:prSet presAssocID="{DDD49B2B-51B2-4423-AAFB-00C33829CC8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902F179-F873-471F-8F11-1965E05EBA92}" type="pres">
      <dgm:prSet presAssocID="{DDD49B2B-51B2-4423-AAFB-00C33829CC8D}" presName="spaceRect" presStyleCnt="0"/>
      <dgm:spPr/>
    </dgm:pt>
    <dgm:pt modelId="{93FC7E5D-CCC3-411C-98FA-E082E6109D9E}" type="pres">
      <dgm:prSet presAssocID="{DDD49B2B-51B2-4423-AAFB-00C33829CC8D}" presName="textRect" presStyleLbl="revTx" presStyleIdx="1" presStyleCnt="4">
        <dgm:presLayoutVars>
          <dgm:chMax val="1"/>
          <dgm:chPref val="1"/>
        </dgm:presLayoutVars>
      </dgm:prSet>
      <dgm:spPr/>
    </dgm:pt>
    <dgm:pt modelId="{C870A361-42DF-4945-A59D-115155AF3A46}" type="pres">
      <dgm:prSet presAssocID="{BA248614-55D7-46FE-9355-4CC463B5FC36}" presName="sibTrans" presStyleLbl="sibTrans2D1" presStyleIdx="0" presStyleCnt="0"/>
      <dgm:spPr/>
    </dgm:pt>
    <dgm:pt modelId="{EA6E5E5A-6495-4640-916E-98C644540666}" type="pres">
      <dgm:prSet presAssocID="{BAE79890-A4AA-4410-A927-56B5E97F8E3D}" presName="compNode" presStyleCnt="0"/>
      <dgm:spPr/>
    </dgm:pt>
    <dgm:pt modelId="{0801EF30-F6EC-4046-B022-303568B6DFAF}" type="pres">
      <dgm:prSet presAssocID="{BAE79890-A4AA-4410-A927-56B5E97F8E3D}" presName="iconBgRect" presStyleLbl="bgShp" presStyleIdx="2" presStyleCnt="4"/>
      <dgm:spPr/>
    </dgm:pt>
    <dgm:pt modelId="{711D856A-B47A-4FB8-B614-84E7A1E35D03}" type="pres">
      <dgm:prSet presAssocID="{BAE79890-A4AA-4410-A927-56B5E97F8E3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9AE536A6-248B-4E4E-A0AC-131DA5971CCB}" type="pres">
      <dgm:prSet presAssocID="{BAE79890-A4AA-4410-A927-56B5E97F8E3D}" presName="spaceRect" presStyleCnt="0"/>
      <dgm:spPr/>
    </dgm:pt>
    <dgm:pt modelId="{A9D9C798-395E-4C5F-9922-7617E5272175}" type="pres">
      <dgm:prSet presAssocID="{BAE79890-A4AA-4410-A927-56B5E97F8E3D}" presName="textRect" presStyleLbl="revTx" presStyleIdx="2" presStyleCnt="4">
        <dgm:presLayoutVars>
          <dgm:chMax val="1"/>
          <dgm:chPref val="1"/>
        </dgm:presLayoutVars>
      </dgm:prSet>
      <dgm:spPr/>
    </dgm:pt>
    <dgm:pt modelId="{461BB2AF-FC8E-451A-A57A-01448BCD6C05}" type="pres">
      <dgm:prSet presAssocID="{3742BBAF-C86A-4883-8536-9803BED57A14}" presName="sibTrans" presStyleLbl="sibTrans2D1" presStyleIdx="0" presStyleCnt="0"/>
      <dgm:spPr/>
    </dgm:pt>
    <dgm:pt modelId="{76841680-B9AD-4E9B-8D93-574B3BBEA0D0}" type="pres">
      <dgm:prSet presAssocID="{1F441FD0-34FB-4270-A274-2453FE1E3F5E}" presName="compNode" presStyleCnt="0"/>
      <dgm:spPr/>
    </dgm:pt>
    <dgm:pt modelId="{D03FB2A0-5E28-4FC8-BF76-6B2C92C6E1D9}" type="pres">
      <dgm:prSet presAssocID="{1F441FD0-34FB-4270-A274-2453FE1E3F5E}" presName="iconBgRect" presStyleLbl="bgShp" presStyleIdx="3" presStyleCnt="4"/>
      <dgm:spPr/>
    </dgm:pt>
    <dgm:pt modelId="{259DEEF0-AFF1-45F1-9209-C0CB16B91821}" type="pres">
      <dgm:prSet presAssocID="{1F441FD0-34FB-4270-A274-2453FE1E3F5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D2346056-DF68-488E-98E0-7F80943EA058}" type="pres">
      <dgm:prSet presAssocID="{1F441FD0-34FB-4270-A274-2453FE1E3F5E}" presName="spaceRect" presStyleCnt="0"/>
      <dgm:spPr/>
    </dgm:pt>
    <dgm:pt modelId="{5BCF9F9B-84CA-4127-8F52-BF3C4CAEE545}" type="pres">
      <dgm:prSet presAssocID="{1F441FD0-34FB-4270-A274-2453FE1E3F5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B839D1D-6827-4951-A00A-C580D21CFEA4}" type="presOf" srcId="{BAE79890-A4AA-4410-A927-56B5E97F8E3D}" destId="{A9D9C798-395E-4C5F-9922-7617E5272175}" srcOrd="0" destOrd="0" presId="urn:microsoft.com/office/officeart/2018/2/layout/IconCircleList"/>
    <dgm:cxn modelId="{3294B829-8BCA-49B4-B7EF-E5C5B914CB67}" type="presOf" srcId="{1F441FD0-34FB-4270-A274-2453FE1E3F5E}" destId="{5BCF9F9B-84CA-4127-8F52-BF3C4CAEE545}" srcOrd="0" destOrd="0" presId="urn:microsoft.com/office/officeart/2018/2/layout/IconCircleList"/>
    <dgm:cxn modelId="{903E3530-86CA-4AFE-A3F0-A15430ED7F7E}" type="presOf" srcId="{BA248614-55D7-46FE-9355-4CC463B5FC36}" destId="{C870A361-42DF-4945-A59D-115155AF3A46}" srcOrd="0" destOrd="0" presId="urn:microsoft.com/office/officeart/2018/2/layout/IconCircleList"/>
    <dgm:cxn modelId="{B9AEA231-475C-4B5B-BE57-A806B6FF7E6F}" srcId="{65B8B9AE-B8B8-45A9-B322-57B264310577}" destId="{1F441FD0-34FB-4270-A274-2453FE1E3F5E}" srcOrd="3" destOrd="0" parTransId="{EBAD2BEB-2E64-482A-BB0B-8A8B4B7CA09C}" sibTransId="{36864D11-39D4-493D-9320-A7BD16B1CCA1}"/>
    <dgm:cxn modelId="{E493D34C-6D05-4CB6-9630-710D50050738}" srcId="{65B8B9AE-B8B8-45A9-B322-57B264310577}" destId="{BAE79890-A4AA-4410-A927-56B5E97F8E3D}" srcOrd="2" destOrd="0" parTransId="{4A81ABFF-A120-45F2-AB5C-10772D6C26EC}" sibTransId="{3742BBAF-C86A-4883-8536-9803BED57A14}"/>
    <dgm:cxn modelId="{CA1CAD60-C5EE-4C26-9793-20D94B811765}" type="presOf" srcId="{A38C82B9-CF48-4A0A-91D6-6C08BE7300FB}" destId="{11121821-EEF2-43EB-AF4A-90247E26CC4F}" srcOrd="0" destOrd="0" presId="urn:microsoft.com/office/officeart/2018/2/layout/IconCircleList"/>
    <dgm:cxn modelId="{E4131174-CFED-4932-8279-3A065A76D691}" type="presOf" srcId="{3742BBAF-C86A-4883-8536-9803BED57A14}" destId="{461BB2AF-FC8E-451A-A57A-01448BCD6C05}" srcOrd="0" destOrd="0" presId="urn:microsoft.com/office/officeart/2018/2/layout/IconCircleList"/>
    <dgm:cxn modelId="{C374BA8D-8296-49B4-B04E-E6E845E811EF}" srcId="{65B8B9AE-B8B8-45A9-B322-57B264310577}" destId="{5EA9BECD-F83C-47DD-8351-234B1F8BB074}" srcOrd="0" destOrd="0" parTransId="{49060D36-F536-4ACA-893F-907C9A1A86AB}" sibTransId="{A38C82B9-CF48-4A0A-91D6-6C08BE7300FB}"/>
    <dgm:cxn modelId="{52ACBD9C-0412-4347-8794-1C9B57E69A68}" type="presOf" srcId="{65B8B9AE-B8B8-45A9-B322-57B264310577}" destId="{2702F252-0DE0-45DA-8B02-763827B8FEDB}" srcOrd="0" destOrd="0" presId="urn:microsoft.com/office/officeart/2018/2/layout/IconCircleList"/>
    <dgm:cxn modelId="{62DF49C0-7118-4BE2-921E-4CAE1920CBF1}" srcId="{65B8B9AE-B8B8-45A9-B322-57B264310577}" destId="{DDD49B2B-51B2-4423-AAFB-00C33829CC8D}" srcOrd="1" destOrd="0" parTransId="{71E85B6A-0EE7-438C-8E95-04882BE282D3}" sibTransId="{BA248614-55D7-46FE-9355-4CC463B5FC36}"/>
    <dgm:cxn modelId="{8DC70CF0-33D7-4FDE-9646-C33D266A965C}" type="presOf" srcId="{DDD49B2B-51B2-4423-AAFB-00C33829CC8D}" destId="{93FC7E5D-CCC3-411C-98FA-E082E6109D9E}" srcOrd="0" destOrd="0" presId="urn:microsoft.com/office/officeart/2018/2/layout/IconCircleList"/>
    <dgm:cxn modelId="{71BF5AF9-BFD9-481A-9891-E8DF131CC2A4}" type="presOf" srcId="{5EA9BECD-F83C-47DD-8351-234B1F8BB074}" destId="{1434C0A9-0361-4B7A-A8ED-2EE1AB21B88E}" srcOrd="0" destOrd="0" presId="urn:microsoft.com/office/officeart/2018/2/layout/IconCircleList"/>
    <dgm:cxn modelId="{FEF88741-4A51-4632-AF4E-E330BD96F6D3}" type="presParOf" srcId="{2702F252-0DE0-45DA-8B02-763827B8FEDB}" destId="{21072FDB-4E54-4825-91F5-8A22C0E91777}" srcOrd="0" destOrd="0" presId="urn:microsoft.com/office/officeart/2018/2/layout/IconCircleList"/>
    <dgm:cxn modelId="{F96E4322-427B-480F-BDD7-829E4F6C35CE}" type="presParOf" srcId="{21072FDB-4E54-4825-91F5-8A22C0E91777}" destId="{177BD658-A88B-4640-8028-D703368DC83E}" srcOrd="0" destOrd="0" presId="urn:microsoft.com/office/officeart/2018/2/layout/IconCircleList"/>
    <dgm:cxn modelId="{CE5F60EA-23B0-4991-B6E2-23E45A6287C8}" type="presParOf" srcId="{177BD658-A88B-4640-8028-D703368DC83E}" destId="{1364EA4A-FABA-4A74-B6B7-E1548A58384F}" srcOrd="0" destOrd="0" presId="urn:microsoft.com/office/officeart/2018/2/layout/IconCircleList"/>
    <dgm:cxn modelId="{76C58094-19B0-4B7C-BF82-F334D648D0A9}" type="presParOf" srcId="{177BD658-A88B-4640-8028-D703368DC83E}" destId="{CFB2E97B-78F4-48F8-A13E-AA1A2FB5FEF0}" srcOrd="1" destOrd="0" presId="urn:microsoft.com/office/officeart/2018/2/layout/IconCircleList"/>
    <dgm:cxn modelId="{645B6988-B75D-4D3D-BECF-3569F08F6417}" type="presParOf" srcId="{177BD658-A88B-4640-8028-D703368DC83E}" destId="{E9F731A2-BD5E-4566-A17B-DDA47DCF75F9}" srcOrd="2" destOrd="0" presId="urn:microsoft.com/office/officeart/2018/2/layout/IconCircleList"/>
    <dgm:cxn modelId="{D744D672-A07F-41F9-B0A3-B8609457BD02}" type="presParOf" srcId="{177BD658-A88B-4640-8028-D703368DC83E}" destId="{1434C0A9-0361-4B7A-A8ED-2EE1AB21B88E}" srcOrd="3" destOrd="0" presId="urn:microsoft.com/office/officeart/2018/2/layout/IconCircleList"/>
    <dgm:cxn modelId="{39B4EAB4-A89F-4A52-82A5-8706AEEAAFE7}" type="presParOf" srcId="{21072FDB-4E54-4825-91F5-8A22C0E91777}" destId="{11121821-EEF2-43EB-AF4A-90247E26CC4F}" srcOrd="1" destOrd="0" presId="urn:microsoft.com/office/officeart/2018/2/layout/IconCircleList"/>
    <dgm:cxn modelId="{E1BF8749-14D4-4951-98BD-79456ED1D1DF}" type="presParOf" srcId="{21072FDB-4E54-4825-91F5-8A22C0E91777}" destId="{D7493E03-379C-43D1-A0E4-6632D5F1E5E5}" srcOrd="2" destOrd="0" presId="urn:microsoft.com/office/officeart/2018/2/layout/IconCircleList"/>
    <dgm:cxn modelId="{2848457F-0B5E-4CA6-B67D-C8112A0839F6}" type="presParOf" srcId="{D7493E03-379C-43D1-A0E4-6632D5F1E5E5}" destId="{AEA0E9DA-FA43-4865-BC2B-9CACE7CA7535}" srcOrd="0" destOrd="0" presId="urn:microsoft.com/office/officeart/2018/2/layout/IconCircleList"/>
    <dgm:cxn modelId="{EB9DD0D7-FBA5-458F-B101-48E788CE1720}" type="presParOf" srcId="{D7493E03-379C-43D1-A0E4-6632D5F1E5E5}" destId="{E5DC2B56-59B8-400B-BA6A-FD4032D8FB75}" srcOrd="1" destOrd="0" presId="urn:microsoft.com/office/officeart/2018/2/layout/IconCircleList"/>
    <dgm:cxn modelId="{4156FBC6-A600-42AB-BF9D-9BE9FC02ABFF}" type="presParOf" srcId="{D7493E03-379C-43D1-A0E4-6632D5F1E5E5}" destId="{2902F179-F873-471F-8F11-1965E05EBA92}" srcOrd="2" destOrd="0" presId="urn:microsoft.com/office/officeart/2018/2/layout/IconCircleList"/>
    <dgm:cxn modelId="{79000356-CBAA-46A8-A866-E11F15D29588}" type="presParOf" srcId="{D7493E03-379C-43D1-A0E4-6632D5F1E5E5}" destId="{93FC7E5D-CCC3-411C-98FA-E082E6109D9E}" srcOrd="3" destOrd="0" presId="urn:microsoft.com/office/officeart/2018/2/layout/IconCircleList"/>
    <dgm:cxn modelId="{4E0E78BE-82FB-468A-B23C-36BABBFBD3BA}" type="presParOf" srcId="{21072FDB-4E54-4825-91F5-8A22C0E91777}" destId="{C870A361-42DF-4945-A59D-115155AF3A46}" srcOrd="3" destOrd="0" presId="urn:microsoft.com/office/officeart/2018/2/layout/IconCircleList"/>
    <dgm:cxn modelId="{9C71B0FE-37EE-4AE9-AB8B-9980DB5019F6}" type="presParOf" srcId="{21072FDB-4E54-4825-91F5-8A22C0E91777}" destId="{EA6E5E5A-6495-4640-916E-98C644540666}" srcOrd="4" destOrd="0" presId="urn:microsoft.com/office/officeart/2018/2/layout/IconCircleList"/>
    <dgm:cxn modelId="{2BDCE9B1-C3FB-43D3-920F-CD032E390880}" type="presParOf" srcId="{EA6E5E5A-6495-4640-916E-98C644540666}" destId="{0801EF30-F6EC-4046-B022-303568B6DFAF}" srcOrd="0" destOrd="0" presId="urn:microsoft.com/office/officeart/2018/2/layout/IconCircleList"/>
    <dgm:cxn modelId="{787F314F-A94E-4AD4-B35A-1FFA92C50D66}" type="presParOf" srcId="{EA6E5E5A-6495-4640-916E-98C644540666}" destId="{711D856A-B47A-4FB8-B614-84E7A1E35D03}" srcOrd="1" destOrd="0" presId="urn:microsoft.com/office/officeart/2018/2/layout/IconCircleList"/>
    <dgm:cxn modelId="{0DB3C6BF-0D66-4A5C-9BA9-55AEB58AAB3D}" type="presParOf" srcId="{EA6E5E5A-6495-4640-916E-98C644540666}" destId="{9AE536A6-248B-4E4E-A0AC-131DA5971CCB}" srcOrd="2" destOrd="0" presId="urn:microsoft.com/office/officeart/2018/2/layout/IconCircleList"/>
    <dgm:cxn modelId="{C12294DE-716B-496A-881C-0F881EEFC88D}" type="presParOf" srcId="{EA6E5E5A-6495-4640-916E-98C644540666}" destId="{A9D9C798-395E-4C5F-9922-7617E5272175}" srcOrd="3" destOrd="0" presId="urn:microsoft.com/office/officeart/2018/2/layout/IconCircleList"/>
    <dgm:cxn modelId="{5FD3E0BC-7FD0-48B7-B0BC-867BE4DF767F}" type="presParOf" srcId="{21072FDB-4E54-4825-91F5-8A22C0E91777}" destId="{461BB2AF-FC8E-451A-A57A-01448BCD6C05}" srcOrd="5" destOrd="0" presId="urn:microsoft.com/office/officeart/2018/2/layout/IconCircleList"/>
    <dgm:cxn modelId="{DBDE040D-8808-41D0-84CD-BFCBF083A6C3}" type="presParOf" srcId="{21072FDB-4E54-4825-91F5-8A22C0E91777}" destId="{76841680-B9AD-4E9B-8D93-574B3BBEA0D0}" srcOrd="6" destOrd="0" presId="urn:microsoft.com/office/officeart/2018/2/layout/IconCircleList"/>
    <dgm:cxn modelId="{6D15DEA2-A7BE-4C04-A0CF-C15AB2743B32}" type="presParOf" srcId="{76841680-B9AD-4E9B-8D93-574B3BBEA0D0}" destId="{D03FB2A0-5E28-4FC8-BF76-6B2C92C6E1D9}" srcOrd="0" destOrd="0" presId="urn:microsoft.com/office/officeart/2018/2/layout/IconCircleList"/>
    <dgm:cxn modelId="{0E619A5F-883F-457C-BE38-7D861A5C1F63}" type="presParOf" srcId="{76841680-B9AD-4E9B-8D93-574B3BBEA0D0}" destId="{259DEEF0-AFF1-45F1-9209-C0CB16B91821}" srcOrd="1" destOrd="0" presId="urn:microsoft.com/office/officeart/2018/2/layout/IconCircleList"/>
    <dgm:cxn modelId="{F6636830-7674-4E39-931C-A7386941E913}" type="presParOf" srcId="{76841680-B9AD-4E9B-8D93-574B3BBEA0D0}" destId="{D2346056-DF68-488E-98E0-7F80943EA058}" srcOrd="2" destOrd="0" presId="urn:microsoft.com/office/officeart/2018/2/layout/IconCircleList"/>
    <dgm:cxn modelId="{E9AA506F-58FE-4BE2-BC33-7BA0B721CF14}" type="presParOf" srcId="{76841680-B9AD-4E9B-8D93-574B3BBEA0D0}" destId="{5BCF9F9B-84CA-4127-8F52-BF3C4CAEE54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7569EF-0B53-7C47-BDD5-4EDCF9A2022F}">
      <dsp:nvSpPr>
        <dsp:cNvPr id="0" name=""/>
        <dsp:cNvSpPr/>
      </dsp:nvSpPr>
      <dsp:spPr>
        <a:xfrm>
          <a:off x="0" y="771685"/>
          <a:ext cx="5175384" cy="7547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b="1" kern="1200" dirty="0"/>
            <a:t>Medical doctor</a:t>
          </a:r>
          <a:r>
            <a:rPr lang="en-AU" sz="1900" kern="1200" dirty="0"/>
            <a:t> — anaesthetist</a:t>
          </a:r>
          <a:endParaRPr lang="en-US" sz="1900" kern="1200" dirty="0"/>
        </a:p>
      </dsp:txBody>
      <dsp:txXfrm>
        <a:off x="36845" y="808530"/>
        <a:ext cx="5101694" cy="681087"/>
      </dsp:txXfrm>
    </dsp:sp>
    <dsp:sp modelId="{6FA84A33-E771-D842-8F07-012EC554A8D5}">
      <dsp:nvSpPr>
        <dsp:cNvPr id="0" name=""/>
        <dsp:cNvSpPr/>
      </dsp:nvSpPr>
      <dsp:spPr>
        <a:xfrm>
          <a:off x="0" y="1581183"/>
          <a:ext cx="5175384" cy="754777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b="1" kern="1200"/>
            <a:t>Lifelong maths geek</a:t>
          </a:r>
          <a:r>
            <a:rPr lang="en-AU" sz="1900" kern="1200"/>
            <a:t> — mathematical olympiads</a:t>
          </a:r>
          <a:endParaRPr lang="en-US" sz="1900" kern="1200"/>
        </a:p>
      </dsp:txBody>
      <dsp:txXfrm>
        <a:off x="36845" y="1618028"/>
        <a:ext cx="5101694" cy="681087"/>
      </dsp:txXfrm>
    </dsp:sp>
    <dsp:sp modelId="{D7D41D71-4412-1143-BA67-41C1DCC25C91}">
      <dsp:nvSpPr>
        <dsp:cNvPr id="0" name=""/>
        <dsp:cNvSpPr/>
      </dsp:nvSpPr>
      <dsp:spPr>
        <a:xfrm>
          <a:off x="0" y="2390681"/>
          <a:ext cx="5175384" cy="754777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b="1" kern="1200" dirty="0"/>
            <a:t>Qualified biostatistician</a:t>
          </a:r>
          <a:r>
            <a:rPr lang="en-AU" sz="1900" kern="1200" dirty="0"/>
            <a:t> — I think in distributions and probability, not point estimates</a:t>
          </a:r>
          <a:endParaRPr lang="en-US" sz="1900" kern="1200" dirty="0"/>
        </a:p>
      </dsp:txBody>
      <dsp:txXfrm>
        <a:off x="36845" y="2427526"/>
        <a:ext cx="5101694" cy="681087"/>
      </dsp:txXfrm>
    </dsp:sp>
    <dsp:sp modelId="{2FE28131-D1C7-C645-BA2F-C7D563BEF856}">
      <dsp:nvSpPr>
        <dsp:cNvPr id="0" name=""/>
        <dsp:cNvSpPr/>
      </dsp:nvSpPr>
      <dsp:spPr>
        <a:xfrm>
          <a:off x="0" y="3200179"/>
          <a:ext cx="5175384" cy="754777"/>
        </a:xfrm>
        <a:prstGeom prst="round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b="1" kern="1200"/>
            <a:t>Personal finance enthusiast</a:t>
          </a:r>
          <a:r>
            <a:rPr lang="en-AU" sz="1900" kern="1200"/>
            <a:t> — I model scenarios before I make decisions</a:t>
          </a:r>
          <a:endParaRPr lang="en-US" sz="1900" kern="1200"/>
        </a:p>
      </dsp:txBody>
      <dsp:txXfrm>
        <a:off x="36845" y="3237024"/>
        <a:ext cx="5101694" cy="681087"/>
      </dsp:txXfrm>
    </dsp:sp>
    <dsp:sp modelId="{F428478E-77DD-4C4F-85B1-6D1F3F2DBD45}">
      <dsp:nvSpPr>
        <dsp:cNvPr id="0" name=""/>
        <dsp:cNvSpPr/>
      </dsp:nvSpPr>
      <dsp:spPr>
        <a:xfrm>
          <a:off x="0" y="4009677"/>
          <a:ext cx="5175384" cy="754777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b="1" kern="1200"/>
            <a:t>Creator of novatedlease.guide</a:t>
          </a:r>
          <a:r>
            <a:rPr lang="en-AU" sz="1900" kern="1200"/>
            <a:t> — independent, non-commercial, no commissions.</a:t>
          </a:r>
          <a:endParaRPr lang="en-US" sz="1900" kern="1200"/>
        </a:p>
      </dsp:txBody>
      <dsp:txXfrm>
        <a:off x="36845" y="4046522"/>
        <a:ext cx="5101694" cy="6810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CAED8-4592-8146-AB07-A3783C7CE009}">
      <dsp:nvSpPr>
        <dsp:cNvPr id="0" name=""/>
        <dsp:cNvSpPr/>
      </dsp:nvSpPr>
      <dsp:spPr>
        <a:xfrm>
          <a:off x="2001533" y="0"/>
          <a:ext cx="4192805" cy="419280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1715EF-3E22-F24F-9B8E-27DB44C82CDF}">
      <dsp:nvSpPr>
        <dsp:cNvPr id="0" name=""/>
        <dsp:cNvSpPr/>
      </dsp:nvSpPr>
      <dsp:spPr>
        <a:xfrm>
          <a:off x="2399849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Cash / Offset</a:t>
          </a:r>
        </a:p>
      </dsp:txBody>
      <dsp:txXfrm>
        <a:off x="2479673" y="478140"/>
        <a:ext cx="1475545" cy="1475545"/>
      </dsp:txXfrm>
    </dsp:sp>
    <dsp:sp modelId="{7289F01C-3E5C-5842-A636-9F5940B47F4B}">
      <dsp:nvSpPr>
        <dsp:cNvPr id="0" name=""/>
        <dsp:cNvSpPr/>
      </dsp:nvSpPr>
      <dsp:spPr>
        <a:xfrm>
          <a:off x="4160827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Car loan</a:t>
          </a:r>
        </a:p>
      </dsp:txBody>
      <dsp:txXfrm>
        <a:off x="4240651" y="478140"/>
        <a:ext cx="1475545" cy="1475545"/>
      </dsp:txXfrm>
    </dsp:sp>
    <dsp:sp modelId="{BB11F21E-CE97-2943-AAD0-ACACE14A3C14}">
      <dsp:nvSpPr>
        <dsp:cNvPr id="0" name=""/>
        <dsp:cNvSpPr/>
      </dsp:nvSpPr>
      <dsp:spPr>
        <a:xfrm>
          <a:off x="2399849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Novated lease</a:t>
          </a:r>
        </a:p>
      </dsp:txBody>
      <dsp:txXfrm>
        <a:off x="2479673" y="2239118"/>
        <a:ext cx="1475545" cy="1475545"/>
      </dsp:txXfrm>
    </dsp:sp>
    <dsp:sp modelId="{417F6598-9AAE-8548-9F9C-86A549AE3DBA}">
      <dsp:nvSpPr>
        <dsp:cNvPr id="0" name=""/>
        <dsp:cNvSpPr/>
      </dsp:nvSpPr>
      <dsp:spPr>
        <a:xfrm>
          <a:off x="4160827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300" kern="1200"/>
            <a:t>+/- Business use deduction</a:t>
          </a:r>
          <a:endParaRPr lang="en-US" sz="2300" kern="1200"/>
        </a:p>
      </dsp:txBody>
      <dsp:txXfrm>
        <a:off x="4240651" y="2239118"/>
        <a:ext cx="1475545" cy="14755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66DF9D-74EE-E74B-87E8-35E2F87E68C5}">
      <dsp:nvSpPr>
        <dsp:cNvPr id="0" name=""/>
        <dsp:cNvSpPr/>
      </dsp:nvSpPr>
      <dsp:spPr>
        <a:xfrm>
          <a:off x="0" y="170734"/>
          <a:ext cx="4697730" cy="10725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2700" kern="1200"/>
            <a:t>Traditionally “gold standard”</a:t>
          </a:r>
          <a:endParaRPr lang="en-US" sz="2700" kern="1200"/>
        </a:p>
      </dsp:txBody>
      <dsp:txXfrm>
        <a:off x="52359" y="223093"/>
        <a:ext cx="4593012" cy="967861"/>
      </dsp:txXfrm>
    </dsp:sp>
    <dsp:sp modelId="{7F79167D-321D-9D48-A30C-DF7F347A9C33}">
      <dsp:nvSpPr>
        <dsp:cNvPr id="0" name=""/>
        <dsp:cNvSpPr/>
      </dsp:nvSpPr>
      <dsp:spPr>
        <a:xfrm>
          <a:off x="0" y="1243314"/>
          <a:ext cx="4697730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AU" sz="2100" kern="1200"/>
            <a:t>”Cash is king”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AU" sz="2100" kern="1200" dirty="0"/>
            <a:t>”Financing a car is how you stay poor”</a:t>
          </a:r>
          <a:endParaRPr lang="en-US" sz="2100" kern="1200" dirty="0"/>
        </a:p>
      </dsp:txBody>
      <dsp:txXfrm>
        <a:off x="0" y="1243314"/>
        <a:ext cx="4697730" cy="726570"/>
      </dsp:txXfrm>
    </dsp:sp>
    <dsp:sp modelId="{84536FE1-3151-0543-B16C-A1FB330158F1}">
      <dsp:nvSpPr>
        <dsp:cNvPr id="0" name=""/>
        <dsp:cNvSpPr/>
      </dsp:nvSpPr>
      <dsp:spPr>
        <a:xfrm>
          <a:off x="0" y="1969884"/>
          <a:ext cx="4697730" cy="10725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Often treated as ‘</a:t>
          </a:r>
          <a:r>
            <a:rPr lang="en-AU" sz="2700" kern="1200"/>
            <a:t>zero finance cost</a:t>
          </a:r>
          <a:r>
            <a:rPr lang="en-US" sz="2700" kern="1200"/>
            <a:t>’ </a:t>
          </a:r>
          <a:r>
            <a:rPr lang="en-AU" sz="2700" kern="1200"/>
            <a:t>but</a:t>
          </a:r>
          <a:r>
            <a:rPr lang="en-US" sz="2700" kern="1200"/>
            <a:t> </a:t>
          </a:r>
          <a:r>
            <a:rPr lang="en-AU" sz="2700" kern="1200"/>
            <a:t>not true</a:t>
          </a:r>
          <a:endParaRPr lang="en-US" sz="2700" kern="1200"/>
        </a:p>
      </dsp:txBody>
      <dsp:txXfrm>
        <a:off x="52359" y="2022243"/>
        <a:ext cx="4593012" cy="967861"/>
      </dsp:txXfrm>
    </dsp:sp>
    <dsp:sp modelId="{251AE5A4-32ED-8D43-A7C6-43E31543EBD0}">
      <dsp:nvSpPr>
        <dsp:cNvPr id="0" name=""/>
        <dsp:cNvSpPr/>
      </dsp:nvSpPr>
      <dsp:spPr>
        <a:xfrm>
          <a:off x="0" y="3042463"/>
          <a:ext cx="4697730" cy="2291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Opportunity cost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Money spent could lead to more home loan interests.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AU" sz="2100" kern="1200"/>
            <a:t>E.g. $60,000 forked out from offset account: at 5.5% home loan interest, it’s equivalent to $3,300 extra interest per year. </a:t>
          </a:r>
          <a:endParaRPr lang="en-US" sz="2100" kern="1200"/>
        </a:p>
      </dsp:txBody>
      <dsp:txXfrm>
        <a:off x="0" y="3042463"/>
        <a:ext cx="4697730" cy="22914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F91E8-D827-41A7-AD52-A5743DAEE5E1}">
      <dsp:nvSpPr>
        <dsp:cNvPr id="0" name=""/>
        <dsp:cNvSpPr/>
      </dsp:nvSpPr>
      <dsp:spPr>
        <a:xfrm>
          <a:off x="653145" y="480259"/>
          <a:ext cx="931004" cy="9310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0C3851-64F9-4890-9B41-894928FB008E}">
      <dsp:nvSpPr>
        <dsp:cNvPr id="0" name=""/>
        <dsp:cNvSpPr/>
      </dsp:nvSpPr>
      <dsp:spPr>
        <a:xfrm>
          <a:off x="84198" y="1737155"/>
          <a:ext cx="206889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/>
            <a:t>Allow people who do not have the upfront cash to still buy a car</a:t>
          </a:r>
          <a:endParaRPr lang="en-US" sz="1500" kern="1200"/>
        </a:p>
      </dsp:txBody>
      <dsp:txXfrm>
        <a:off x="84198" y="1737155"/>
        <a:ext cx="2068898" cy="720000"/>
      </dsp:txXfrm>
    </dsp:sp>
    <dsp:sp modelId="{E91128A7-689E-4494-B442-3EAE27FD28B4}">
      <dsp:nvSpPr>
        <dsp:cNvPr id="0" name=""/>
        <dsp:cNvSpPr/>
      </dsp:nvSpPr>
      <dsp:spPr>
        <a:xfrm>
          <a:off x="3084101" y="480259"/>
          <a:ext cx="931004" cy="9310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2828B2-0AB2-439C-A8A7-9123CC44D8BC}">
      <dsp:nvSpPr>
        <dsp:cNvPr id="0" name=""/>
        <dsp:cNvSpPr/>
      </dsp:nvSpPr>
      <dsp:spPr>
        <a:xfrm>
          <a:off x="2515154" y="1737155"/>
          <a:ext cx="206889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/>
            <a:t>Cost: interests.</a:t>
          </a:r>
          <a:endParaRPr lang="en-US" sz="1500" kern="1200"/>
        </a:p>
      </dsp:txBody>
      <dsp:txXfrm>
        <a:off x="2515154" y="1737155"/>
        <a:ext cx="2068898" cy="720000"/>
      </dsp:txXfrm>
    </dsp:sp>
    <dsp:sp modelId="{A5BBA301-D97A-47D0-968E-9093966AFD81}">
      <dsp:nvSpPr>
        <dsp:cNvPr id="0" name=""/>
        <dsp:cNvSpPr/>
      </dsp:nvSpPr>
      <dsp:spPr>
        <a:xfrm>
          <a:off x="1868623" y="2974380"/>
          <a:ext cx="931004" cy="9310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AF61C-B893-47C3-ADCF-45ECCD31F297}">
      <dsp:nvSpPr>
        <dsp:cNvPr id="0" name=""/>
        <dsp:cNvSpPr/>
      </dsp:nvSpPr>
      <dsp:spPr>
        <a:xfrm>
          <a:off x="1299676" y="4231276"/>
          <a:ext cx="206889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/>
            <a:t>Paid with post‑tax dollars</a:t>
          </a:r>
          <a:endParaRPr lang="en-US" sz="1500" kern="1200"/>
        </a:p>
      </dsp:txBody>
      <dsp:txXfrm>
        <a:off x="1299676" y="4231276"/>
        <a:ext cx="2068898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2D62A-A48F-AD4B-BCD7-57BBD3F3AC99}">
      <dsp:nvSpPr>
        <dsp:cNvPr id="0" name=""/>
        <dsp:cNvSpPr/>
      </dsp:nvSpPr>
      <dsp:spPr>
        <a:xfrm>
          <a:off x="0" y="2770"/>
          <a:ext cx="1863138" cy="13326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kern="1200"/>
            <a:t>A salary packaging arrangement that lets you spend pre‑tax income</a:t>
          </a:r>
          <a:endParaRPr lang="en-US" sz="1600" kern="1200"/>
        </a:p>
      </dsp:txBody>
      <dsp:txXfrm>
        <a:off x="65056" y="67826"/>
        <a:ext cx="1733026" cy="1202562"/>
      </dsp:txXfrm>
    </dsp:sp>
    <dsp:sp modelId="{E61B088E-D5B3-144E-B979-6223D570A87D}">
      <dsp:nvSpPr>
        <dsp:cNvPr id="0" name=""/>
        <dsp:cNvSpPr/>
      </dsp:nvSpPr>
      <dsp:spPr>
        <a:xfrm rot="5400000">
          <a:off x="2986191" y="412293"/>
          <a:ext cx="1066139" cy="3312245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400" kern="1200"/>
            <a:t>pre-tax income → tax withheld → post-tax money → spend on car</a:t>
          </a:r>
          <a:endParaRPr lang="en-US" sz="1400" kern="1200"/>
        </a:p>
      </dsp:txBody>
      <dsp:txXfrm rot="-5400000">
        <a:off x="1863139" y="1587391"/>
        <a:ext cx="3260200" cy="962049"/>
      </dsp:txXfrm>
    </dsp:sp>
    <dsp:sp modelId="{EB3414AE-ACB1-0C45-BE38-93B984CBAB4B}">
      <dsp:nvSpPr>
        <dsp:cNvPr id="0" name=""/>
        <dsp:cNvSpPr/>
      </dsp:nvSpPr>
      <dsp:spPr>
        <a:xfrm>
          <a:off x="0" y="1402079"/>
          <a:ext cx="1863138" cy="1332674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b="1" kern="1200"/>
            <a:t>Normally: </a:t>
          </a:r>
          <a:endParaRPr lang="en-US" sz="1600" kern="1200"/>
        </a:p>
      </dsp:txBody>
      <dsp:txXfrm>
        <a:off x="65056" y="1467135"/>
        <a:ext cx="1733026" cy="1202562"/>
      </dsp:txXfrm>
    </dsp:sp>
    <dsp:sp modelId="{D75117D0-CE45-C449-B052-F62AD9CDCC8A}">
      <dsp:nvSpPr>
        <dsp:cNvPr id="0" name=""/>
        <dsp:cNvSpPr/>
      </dsp:nvSpPr>
      <dsp:spPr>
        <a:xfrm rot="5400000">
          <a:off x="2986191" y="1811601"/>
          <a:ext cx="1066139" cy="3312245"/>
        </a:xfrm>
        <a:prstGeom prst="round2Same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400" kern="1200"/>
            <a:t>pre-tax income → some spent on car → tax withheld on the remainder → post-tax money</a:t>
          </a:r>
          <a:endParaRPr lang="en-US" sz="1400" kern="1200"/>
        </a:p>
      </dsp:txBody>
      <dsp:txXfrm rot="-5400000">
        <a:off x="1863139" y="2986699"/>
        <a:ext cx="3260200" cy="962049"/>
      </dsp:txXfrm>
    </dsp:sp>
    <dsp:sp modelId="{4E4ACBBE-2560-EF4F-AF21-41F46AC89BF7}">
      <dsp:nvSpPr>
        <dsp:cNvPr id="0" name=""/>
        <dsp:cNvSpPr/>
      </dsp:nvSpPr>
      <dsp:spPr>
        <a:xfrm>
          <a:off x="0" y="2801387"/>
          <a:ext cx="1863138" cy="133267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b="1" kern="1200"/>
            <a:t>Novated Lease: </a:t>
          </a:r>
          <a:endParaRPr lang="en-US" sz="1600" kern="1200"/>
        </a:p>
      </dsp:txBody>
      <dsp:txXfrm>
        <a:off x="65056" y="2866443"/>
        <a:ext cx="1733026" cy="1202562"/>
      </dsp:txXfrm>
    </dsp:sp>
    <dsp:sp modelId="{ACBA3084-A6CD-1C45-92D2-5335A8BFF3D3}">
      <dsp:nvSpPr>
        <dsp:cNvPr id="0" name=""/>
        <dsp:cNvSpPr/>
      </dsp:nvSpPr>
      <dsp:spPr>
        <a:xfrm rot="5400000">
          <a:off x="2986191" y="3210910"/>
          <a:ext cx="1066139" cy="3312245"/>
        </a:xfrm>
        <a:prstGeom prst="round2Same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400" kern="1200"/>
            <a:t>30% tax bracket → 32% effective discount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400" kern="1200"/>
            <a:t>37% tax bracket → 39% effective discount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400" kern="1200"/>
            <a:t>45% tax bracket → 47% effective discount</a:t>
          </a:r>
          <a:endParaRPr lang="en-US" sz="1400" kern="1200"/>
        </a:p>
      </dsp:txBody>
      <dsp:txXfrm rot="-5400000">
        <a:off x="1863139" y="4386008"/>
        <a:ext cx="3260200" cy="962049"/>
      </dsp:txXfrm>
    </dsp:sp>
    <dsp:sp modelId="{DA09BCCE-F877-FB40-96F6-131A4D9A29B3}">
      <dsp:nvSpPr>
        <dsp:cNvPr id="0" name=""/>
        <dsp:cNvSpPr/>
      </dsp:nvSpPr>
      <dsp:spPr>
        <a:xfrm>
          <a:off x="0" y="4200695"/>
          <a:ext cx="1863138" cy="1332674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b="1" kern="1200"/>
            <a:t>Net effect: a discount equal to your marginal tax rate plus the Medicare levy:</a:t>
          </a:r>
          <a:endParaRPr lang="en-US" sz="1600" kern="1200"/>
        </a:p>
      </dsp:txBody>
      <dsp:txXfrm>
        <a:off x="65056" y="4265751"/>
        <a:ext cx="1733026" cy="12025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64EA4A-FABA-4A74-B6B7-E1548A58384F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B2E97B-78F4-48F8-A13E-AA1A2FB5FEF0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34C0A9-0361-4B7A-A8ED-2EE1AB21B88E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Higher tax brackets</a:t>
          </a:r>
        </a:p>
      </dsp:txBody>
      <dsp:txXfrm>
        <a:off x="1340173" y="795493"/>
        <a:ext cx="2552269" cy="1082781"/>
      </dsp:txXfrm>
    </dsp:sp>
    <dsp:sp modelId="{AEA0E9DA-FA43-4865-BC2B-9CACE7CA7535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DC2B56-59B8-400B-BA6A-FD4032D8FB75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FC7E5D-CCC3-411C-98FA-E082E6109D9E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Stable employment</a:t>
          </a:r>
        </a:p>
      </dsp:txBody>
      <dsp:txXfrm>
        <a:off x="5651962" y="795493"/>
        <a:ext cx="2552269" cy="1082781"/>
      </dsp:txXfrm>
    </dsp:sp>
    <dsp:sp modelId="{0801EF30-F6EC-4046-B022-303568B6DFAF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1D856A-B47A-4FB8-B614-84E7A1E35D03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D9C798-395E-4C5F-9922-7617E5272175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/>
            <a:t>Have a h</a:t>
          </a:r>
          <a:r>
            <a:rPr lang="en-US" sz="2400" kern="1200"/>
            <a:t>ome loan offset</a:t>
          </a:r>
        </a:p>
      </dsp:txBody>
      <dsp:txXfrm>
        <a:off x="1340173" y="2647688"/>
        <a:ext cx="2552269" cy="1082781"/>
      </dsp:txXfrm>
    </dsp:sp>
    <dsp:sp modelId="{D03FB2A0-5E28-4FC8-BF76-6B2C92C6E1D9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9DEEF0-AFF1-45F1-9209-C0CB16B91821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F9F9B-84CA-4127-8F52-BF3C4CAEE545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Have a cash buffer</a:t>
          </a:r>
          <a:r>
            <a:rPr lang="en-AU" sz="2400" kern="1200" dirty="0"/>
            <a:t> to pay out balloon</a:t>
          </a:r>
          <a:endParaRPr lang="en-US" sz="2400" kern="1200" dirty="0"/>
        </a:p>
      </dsp:txBody>
      <dsp:txXfrm>
        <a:off x="5651962" y="2647688"/>
        <a:ext cx="2552269" cy="1082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C754F5FD-C4A5-1D43-803A-BC9F8F3182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1944" r="772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936" y="600427"/>
            <a:ext cx="7406640" cy="3299902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AU" sz="7100" dirty="0">
                <a:solidFill>
                  <a:srgbClr val="FFFFFF"/>
                </a:solidFill>
              </a:rPr>
              <a:t>Novated leases and novel ways to finance EVs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652" y="4072045"/>
            <a:ext cx="7406640" cy="141435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AU" dirty="0">
                <a:solidFill>
                  <a:srgbClr val="FFFFFF"/>
                </a:solidFill>
              </a:rPr>
              <a:t>Chang Yang Yew</a:t>
            </a:r>
          </a:p>
          <a:p>
            <a:pPr algn="l"/>
            <a:r>
              <a:rPr lang="en-AU" dirty="0">
                <a:solidFill>
                  <a:srgbClr val="FFFFFF"/>
                </a:solidFill>
              </a:rPr>
              <a:t>AEVA WA </a:t>
            </a:r>
            <a:r>
              <a:rPr lang="en-AU" dirty="0" err="1">
                <a:solidFill>
                  <a:srgbClr val="FFFFFF"/>
                </a:solidFill>
              </a:rPr>
              <a:t>Electrikhana</a:t>
            </a:r>
            <a:endParaRPr lang="en-AU" dirty="0">
              <a:solidFill>
                <a:srgbClr val="FFFFFF"/>
              </a:solidFill>
            </a:endParaRPr>
          </a:p>
          <a:p>
            <a:pPr algn="l"/>
            <a:r>
              <a:rPr lang="en-AU" dirty="0">
                <a:solidFill>
                  <a:srgbClr val="FFFFFF"/>
                </a:solidFill>
              </a:rPr>
              <a:t>14/03/2026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65DC4-0EF8-7703-92E7-7D99501FC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Who Am I?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5A28A5-8D30-1B30-0323-1CE6B2C8B9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730903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6023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65DC4-0EF8-7703-92E7-7D99501FC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AU" sz="4700" dirty="0"/>
              <a:t>The OG Rules of Thumb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48702-B2AB-D3DD-EFDB-80F3A3E53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AU" sz="1900"/>
              <a:t>You may have heard these from your uncle or internet strangers:</a:t>
            </a:r>
          </a:p>
          <a:p>
            <a:pPr lvl="1"/>
            <a:r>
              <a:rPr lang="en-AU" sz="1900" b="1"/>
              <a:t>“Cash is king”</a:t>
            </a:r>
          </a:p>
          <a:p>
            <a:pPr lvl="1"/>
            <a:r>
              <a:rPr lang="en-AU" sz="1900" b="1"/>
              <a:t>“You will never save money by buying a new car”</a:t>
            </a:r>
          </a:p>
          <a:p>
            <a:pPr lvl="1"/>
            <a:r>
              <a:rPr lang="en-AU" sz="1900" b="1"/>
              <a:t>“Novated leasing is a scam — most benefit goes to leasing companies”</a:t>
            </a:r>
          </a:p>
          <a:p>
            <a:pPr lvl="1"/>
            <a:r>
              <a:rPr lang="en-AU" sz="1900" b="1"/>
              <a:t>“Only worth it if top tax bracket and drive a lot”</a:t>
            </a:r>
          </a:p>
          <a:p>
            <a:pPr lvl="1"/>
            <a:r>
              <a:rPr lang="en-AU" sz="1900" b="1"/>
              <a:t>“Never finance a depreciating asset”</a:t>
            </a:r>
          </a:p>
          <a:p>
            <a:endParaRPr lang="en-AU" sz="1900"/>
          </a:p>
          <a:p>
            <a:r>
              <a:rPr lang="en-AU" sz="1900"/>
              <a:t>These heuristics were mostly true for a long time. But people stopped re-examining them when the underlying conditions changed.</a:t>
            </a:r>
          </a:p>
        </p:txBody>
      </p:sp>
    </p:spTree>
    <p:extLst>
      <p:ext uri="{BB962C8B-B14F-4D97-AF65-F5344CB8AC3E}">
        <p14:creationId xmlns:p14="http://schemas.microsoft.com/office/powerpoint/2010/main" val="3046023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65DC4-0EF8-7703-92E7-7D99501FC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AU" sz="4300"/>
              <a:t>How I Ended Up Down the Rabbit Hole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48702-B2AB-D3DD-EFDB-80F3A3E53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AU" sz="1900" b="1" dirty="0"/>
              <a:t>I had always liked EVs</a:t>
            </a:r>
          </a:p>
          <a:p>
            <a:pPr lvl="1"/>
            <a:r>
              <a:rPr lang="en-AU" sz="1900" dirty="0"/>
              <a:t>Rental for road trips in 2021–22: smooth, fast, quiet</a:t>
            </a:r>
          </a:p>
          <a:p>
            <a:pPr lvl="1"/>
            <a:r>
              <a:rPr lang="en-AU" sz="1900" dirty="0"/>
              <a:t>Financially an extra $30-50k upfront cost over ICE: Hard to justify.</a:t>
            </a:r>
          </a:p>
          <a:p>
            <a:endParaRPr lang="en-AU" sz="1900" b="1" dirty="0"/>
          </a:p>
          <a:p>
            <a:r>
              <a:rPr lang="en-AU" sz="1900" b="1" dirty="0"/>
              <a:t>Late 2022: FBT exemption for eligible EVs and PHEVs</a:t>
            </a:r>
          </a:p>
          <a:p>
            <a:pPr lvl="1"/>
            <a:r>
              <a:rPr lang="en-AU" sz="1900" dirty="0"/>
              <a:t>Out of curiosity, I ran the numbers again.</a:t>
            </a:r>
          </a:p>
          <a:p>
            <a:endParaRPr lang="en-AU" sz="1900" b="1" dirty="0"/>
          </a:p>
          <a:p>
            <a:r>
              <a:rPr lang="en-AU" sz="1900" b="1" dirty="0"/>
              <a:t>My situation at the time</a:t>
            </a:r>
          </a:p>
          <a:p>
            <a:pPr lvl="1"/>
            <a:r>
              <a:rPr lang="en-AU" sz="1900" dirty="0"/>
              <a:t>Four-year-old Mazda 6 worth ~$25,000</a:t>
            </a:r>
          </a:p>
          <a:p>
            <a:pPr lvl="1"/>
            <a:r>
              <a:rPr lang="en-AU" sz="1900" dirty="0"/>
              <a:t>Tesla Model 3: $70k base, $80k Long Range, $90k+ Performance</a:t>
            </a:r>
          </a:p>
          <a:p>
            <a:pPr lvl="1"/>
            <a:r>
              <a:rPr lang="en-AU" sz="1900" dirty="0"/>
              <a:t>On the surface? Absurd. Every mantra screamed “terrible idea.”</a:t>
            </a:r>
          </a:p>
        </p:txBody>
      </p:sp>
    </p:spTree>
    <p:extLst>
      <p:ext uri="{BB962C8B-B14F-4D97-AF65-F5344CB8AC3E}">
        <p14:creationId xmlns:p14="http://schemas.microsoft.com/office/powerpoint/2010/main" val="3046023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65DC4-0EF8-7703-92E7-7D99501FC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AU" sz="4700"/>
              <a:t>The Mind-Blowing Discovery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48702-B2AB-D3DD-EFDB-80F3A3E53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AU" sz="1900" b="1"/>
              <a:t>EV with cash vs EV via FBT-exempt novated lease:</a:t>
            </a:r>
          </a:p>
          <a:p>
            <a:pPr lvl="1"/>
            <a:r>
              <a:rPr lang="en-AU" sz="1900"/>
              <a:t>The novated lease was approximately $46,000 cheaper over 5 years — for my circumstances i.e. top tax bracket.</a:t>
            </a:r>
          </a:p>
          <a:p>
            <a:pPr lvl="1"/>
            <a:r>
              <a:rPr lang="en-AU" sz="1900"/>
              <a:t>No, that is not a typo.</a:t>
            </a:r>
          </a:p>
          <a:p>
            <a:endParaRPr lang="en-AU" sz="1900" b="1"/>
          </a:p>
          <a:p>
            <a:r>
              <a:rPr lang="en-AU" sz="1900" b="1"/>
              <a:t>Keep the $25k Mazda 6 vs switch to an $81k Tesla:</a:t>
            </a:r>
          </a:p>
          <a:p>
            <a:pPr lvl="1"/>
            <a:r>
              <a:rPr lang="en-AU" sz="1900"/>
              <a:t>Difference in net worth over time: roughly neutral over 5 years.</a:t>
            </a:r>
          </a:p>
          <a:p>
            <a:endParaRPr lang="en-AU" sz="1900"/>
          </a:p>
          <a:p>
            <a:r>
              <a:rPr lang="en-AU" sz="1900"/>
              <a:t>I checked repeatedly. Shared with sceptics. The conclusion held.</a:t>
            </a:r>
          </a:p>
          <a:p>
            <a:r>
              <a:rPr lang="en-AU" sz="1900"/>
              <a:t>The FBT exemption fundamentally overturns many of the old rules of thumb.</a:t>
            </a:r>
          </a:p>
        </p:txBody>
      </p:sp>
    </p:spTree>
    <p:extLst>
      <p:ext uri="{BB962C8B-B14F-4D97-AF65-F5344CB8AC3E}">
        <p14:creationId xmlns:p14="http://schemas.microsoft.com/office/powerpoint/2010/main" val="304602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65DC4-0EF8-7703-92E7-7D99501FC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AU" sz="4700"/>
              <a:t>Further Discoveries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48702-B2AB-D3DD-EFDB-80F3A3E53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AU" sz="1900" dirty="0"/>
              <a:t>After this discovery, I also learned about the traps. Two things became clear:</a:t>
            </a:r>
          </a:p>
          <a:p>
            <a:pPr>
              <a:lnSpc>
                <a:spcPct val="90000"/>
              </a:lnSpc>
            </a:pPr>
            <a:endParaRPr lang="en-AU" sz="1900" dirty="0"/>
          </a:p>
          <a:p>
            <a:pPr>
              <a:lnSpc>
                <a:spcPct val="90000"/>
              </a:lnSpc>
            </a:pPr>
            <a:r>
              <a:rPr lang="en-AU" sz="1900" b="1" dirty="0"/>
              <a:t>Many people dismiss EV novated leases for the wrong reasons</a:t>
            </a:r>
          </a:p>
          <a:p>
            <a:pPr lvl="1">
              <a:lnSpc>
                <a:spcPct val="90000"/>
              </a:lnSpc>
            </a:pPr>
            <a:r>
              <a:rPr lang="en-AU" sz="1900" dirty="0"/>
              <a:t>Based on outdated rules of thumb, not current conditions.</a:t>
            </a:r>
          </a:p>
          <a:p>
            <a:pPr>
              <a:lnSpc>
                <a:spcPct val="90000"/>
              </a:lnSpc>
            </a:pPr>
            <a:r>
              <a:rPr lang="en-AU" sz="1900" b="1" dirty="0"/>
              <a:t>Many people enter novated leases for the wrong reasons</a:t>
            </a:r>
          </a:p>
          <a:p>
            <a:pPr lvl="1">
              <a:lnSpc>
                <a:spcPct val="90000"/>
              </a:lnSpc>
            </a:pPr>
            <a:r>
              <a:rPr lang="en-AU" sz="1900" dirty="0"/>
              <a:t>Based on misleading sales pitches, not a clear understanding of costs and risks</a:t>
            </a:r>
          </a:p>
          <a:p>
            <a:pPr>
              <a:lnSpc>
                <a:spcPct val="90000"/>
              </a:lnSpc>
            </a:pPr>
            <a:endParaRPr lang="en-AU" sz="1900" b="1" dirty="0"/>
          </a:p>
          <a:p>
            <a:pPr>
              <a:lnSpc>
                <a:spcPct val="90000"/>
              </a:lnSpc>
            </a:pPr>
            <a:r>
              <a:rPr lang="en-AU" sz="1900" b="1" dirty="0"/>
              <a:t>I built a few spreadsheets. Then an online calculator. Then the website.</a:t>
            </a:r>
          </a:p>
          <a:p>
            <a:pPr lvl="1">
              <a:lnSpc>
                <a:spcPct val="90000"/>
              </a:lnSpc>
            </a:pPr>
            <a:r>
              <a:rPr lang="en-AU" sz="1900" dirty="0"/>
              <a:t>Goal: explain how novated leases work, where benefits come from, where risks are, and who should consider them.</a:t>
            </a:r>
          </a:p>
        </p:txBody>
      </p:sp>
    </p:spTree>
    <p:extLst>
      <p:ext uri="{BB962C8B-B14F-4D97-AF65-F5344CB8AC3E}">
        <p14:creationId xmlns:p14="http://schemas.microsoft.com/office/powerpoint/2010/main" val="3046023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0730A3-3759-4878-973F-153B9E3F7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2037"/>
            <a:ext cx="9177514" cy="45259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357223-345D-196D-E7D7-45AD13F2F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249" y="-21198"/>
            <a:ext cx="2353235" cy="23532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97C108-2474-6BEB-205C-C43BCB4AC3B6}"/>
              </a:ext>
            </a:extLst>
          </p:cNvPr>
          <p:cNvSpPr txBox="1"/>
          <p:nvPr/>
        </p:nvSpPr>
        <p:spPr>
          <a:xfrm>
            <a:off x="3814484" y="873631"/>
            <a:ext cx="47203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https://</a:t>
            </a:r>
            <a:r>
              <a:rPr lang="en-US" sz="3200" dirty="0" err="1"/>
              <a:t>novatedlease.guide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9325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AU" sz="3500">
                <a:solidFill>
                  <a:srgbClr val="FFFFFF"/>
                </a:solidFill>
              </a:rPr>
              <a:t>Three ways Australians buy EVs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D68AD2-149D-CB94-8CD6-33041C78C6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638810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AU" sz="4500"/>
              <a:t>Buying with cash or offset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3EB7E3-8A0B-AA3E-C1A8-32A63040E3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8002482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AU" sz="4700" dirty="0"/>
              <a:t>Buying with car loan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ED0EF058-0B7C-BCEF-B772-DABB4A1B1F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44813" y="552091"/>
          <a:ext cx="4668251" cy="5431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AU" sz="4700"/>
              <a:t>What novated lease really is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949CED1-86F6-B5A6-CC0B-CA02967E4D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102334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AU" sz="4700"/>
              <a:t>History of Novated Lease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AU" sz="1900" dirty="0"/>
              <a:t>Has been a thing for many decades but never prominent</a:t>
            </a:r>
          </a:p>
          <a:p>
            <a:endParaRPr lang="en-AU" sz="1900" dirty="0"/>
          </a:p>
          <a:p>
            <a:r>
              <a:rPr lang="en-AU" sz="1900" dirty="0"/>
              <a:t>Historically ruined by Fringe Benefits Tax</a:t>
            </a:r>
          </a:p>
          <a:p>
            <a:pPr lvl="1"/>
            <a:r>
              <a:rPr lang="en-AU" sz="1900" dirty="0"/>
              <a:t>An additional fixed cost each year </a:t>
            </a:r>
          </a:p>
          <a:p>
            <a:pPr lvl="1"/>
            <a:r>
              <a:rPr lang="en-AU" sz="1900" dirty="0"/>
              <a:t>Before EV, worked well mostly for high tax bracket ± high mileage + short lease. </a:t>
            </a:r>
          </a:p>
          <a:p>
            <a:endParaRPr lang="en-AU" sz="1900" dirty="0"/>
          </a:p>
          <a:p>
            <a:r>
              <a:rPr lang="en-AU" sz="1900" dirty="0"/>
              <a:t>EVs under luxury car tax threshold are FBT‑exempt</a:t>
            </a:r>
          </a:p>
          <a:p>
            <a:pPr lvl="1"/>
            <a:r>
              <a:rPr lang="en-AU" sz="1900" dirty="0"/>
              <a:t>Totally toppled the financial mottos</a:t>
            </a:r>
          </a:p>
          <a:p>
            <a:pPr lvl="1"/>
            <a:r>
              <a:rPr lang="en-AU" sz="1900" dirty="0"/>
              <a:t>EV NL becomes cheaper than cash for many if not most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AU" sz="4700"/>
              <a:t>What calculators emphasise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AU" sz="1900" dirty="0"/>
              <a:t>Most online calculators present </a:t>
            </a:r>
            <a:r>
              <a:rPr lang="en-AU" sz="1900" b="1" dirty="0"/>
              <a:t>big bold “TAX SAVED”</a:t>
            </a:r>
            <a:r>
              <a:rPr lang="en-AU" sz="1900" dirty="0"/>
              <a:t> to mislead unsophisticated clients. </a:t>
            </a:r>
          </a:p>
          <a:p>
            <a:pPr lvl="1"/>
            <a:r>
              <a:rPr lang="en-AU" sz="1900" dirty="0"/>
              <a:t>Quiet on interest, fees, residual</a:t>
            </a:r>
          </a:p>
          <a:p>
            <a:pPr lvl="1"/>
            <a:r>
              <a:rPr lang="en-AU" sz="1900" dirty="0"/>
              <a:t>Sometimes the conclusion is opposite. In one case: $21,000 claimed “saving” on a quote is actually $5,000 loss compared to cash purchase. </a:t>
            </a:r>
          </a:p>
          <a:p>
            <a:pPr lvl="1"/>
            <a:endParaRPr lang="en-AU" sz="1900" dirty="0"/>
          </a:p>
          <a:p>
            <a:r>
              <a:rPr lang="en-AU" sz="1900" dirty="0"/>
              <a:t>You need to calculate </a:t>
            </a:r>
            <a:r>
              <a:rPr lang="en-AU" sz="1900" b="1" dirty="0"/>
              <a:t>net saving</a:t>
            </a:r>
            <a:r>
              <a:rPr lang="en-AU" sz="1900" dirty="0"/>
              <a:t>, not tax saving. </a:t>
            </a:r>
          </a:p>
          <a:p>
            <a:pPr lvl="1"/>
            <a:r>
              <a:rPr lang="en-AU" sz="1900" dirty="0" err="1"/>
              <a:t>novatedlease.guide</a:t>
            </a:r>
            <a:r>
              <a:rPr lang="en-AU" sz="1900" dirty="0"/>
              <a:t> (my site)</a:t>
            </a:r>
          </a:p>
          <a:p>
            <a:pPr lvl="1"/>
            <a:r>
              <a:rPr lang="en-AU" sz="1900" dirty="0" err="1"/>
              <a:t>leasecheck.au</a:t>
            </a:r>
            <a:endParaRPr lang="en-AU" sz="1900" dirty="0"/>
          </a:p>
          <a:p>
            <a:pPr lvl="1"/>
            <a:r>
              <a:rPr lang="en-AU" sz="1900" dirty="0"/>
              <a:t>Toyota Fleet Calculator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AU" sz="2800" dirty="0"/>
              <a:t>Caveat 1: Adjusted Taxable Income</a:t>
            </a:r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51ECCDD0-E2C0-985F-C1CD-52EDAD664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24" r="26776" b="-1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r>
              <a:rPr lang="en-AU" sz="1700" dirty="0"/>
              <a:t>Taxable income goes down; however adjusted taxable income often goes up</a:t>
            </a:r>
          </a:p>
          <a:p>
            <a:pPr lvl="1"/>
            <a:r>
              <a:rPr lang="en-AU" sz="1700" dirty="0"/>
              <a:t>Affects HECS, childcare subsidy, Div 293</a:t>
            </a:r>
          </a:p>
          <a:p>
            <a:pPr lvl="1"/>
            <a:endParaRPr lang="en-AU" sz="1700" dirty="0"/>
          </a:p>
          <a:p>
            <a:r>
              <a:rPr lang="en-AU" sz="2100" dirty="0"/>
              <a:t>People who take up EV NL often have worse childcare subsidy etc!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37D62-32BD-FA74-F14B-20BB0CF1C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EF91-F879-B024-B24E-81A384C21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AU" sz="2800" dirty="0"/>
              <a:t>Caveat 2: Reduced borrowing capacity</a:t>
            </a:r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E5FE6C7E-019B-0875-3605-B28367F2B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24" r="26776" b="-1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17D04C0-2CE8-5144-7D68-3AF5DA65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98DC7CF-BD48-1BC5-AA8B-1A09FFFC4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0A26A9-474D-C006-3B75-E4BBFD510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99E1B-4A00-49D3-B3F1-9B751A616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r>
              <a:rPr lang="en-AU" sz="1700" dirty="0"/>
              <a:t>Like any other loan or liability, your borrowing capacity (e.g. to buy a house) can be significantly reduced when you have a lease.</a:t>
            </a:r>
          </a:p>
          <a:p>
            <a:pPr marL="0" indent="0">
              <a:buNone/>
            </a:pPr>
            <a:r>
              <a:rPr lang="en-AU" sz="1700" dirty="0"/>
              <a:t> </a:t>
            </a:r>
          </a:p>
          <a:p>
            <a:r>
              <a:rPr lang="en-AU" sz="1700" dirty="0"/>
              <a:t>The impact is often disproportionately higher than car loan of the equivalent car. </a:t>
            </a:r>
          </a:p>
        </p:txBody>
      </p:sp>
    </p:spTree>
    <p:extLst>
      <p:ext uri="{BB962C8B-B14F-4D97-AF65-F5344CB8AC3E}">
        <p14:creationId xmlns:p14="http://schemas.microsoft.com/office/powerpoint/2010/main" val="3450707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B088AF-AA79-6AE9-F627-613D6AC27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8B662-A434-B31F-2FDF-0E3E726E9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AU" sz="2800" dirty="0"/>
              <a:t>Caveat 3: Potentially worse super contribution</a:t>
            </a:r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4A4C7CD2-81D4-7E39-FD68-C46EF62CA3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24" r="26776" b="-1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07E9A35-FD3F-0E8E-9846-425C49ADA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1A0FF36-18CC-D662-022A-CA4970E78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47CEE6A-DF44-1AF6-E8E8-73A797653F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108CB-5D28-8AE5-FCBE-2FE7BA238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r>
              <a:rPr lang="en-AU" sz="1700" dirty="0"/>
              <a:t>Most of the time 12% compulsory super contribution will remain the same after taking up novated lease. </a:t>
            </a:r>
          </a:p>
          <a:p>
            <a:endParaRPr lang="en-AU" sz="1700" dirty="0"/>
          </a:p>
          <a:p>
            <a:r>
              <a:rPr lang="en-AU" sz="1700" dirty="0"/>
              <a:t>However some employers use your post-novated-lease income in the calculation of the 12% contribution, thereby reducing the contribution. </a:t>
            </a:r>
          </a:p>
          <a:p>
            <a:pPr lvl="1"/>
            <a:r>
              <a:rPr lang="en-AU" sz="1300" dirty="0"/>
              <a:t>This could cost you more than $1,000 per year therefore always check with your payroll. </a:t>
            </a:r>
          </a:p>
        </p:txBody>
      </p:sp>
    </p:spTree>
    <p:extLst>
      <p:ext uri="{BB962C8B-B14F-4D97-AF65-F5344CB8AC3E}">
        <p14:creationId xmlns:p14="http://schemas.microsoft.com/office/powerpoint/2010/main" val="2729184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336F2-F059-C216-6F56-2FA786456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255F8-83E7-29D7-A6A0-462282B5B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AU" sz="2800" dirty="0"/>
              <a:t>Caveat 4: Risk of losing job / writing off the car</a:t>
            </a:r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6B0566E3-5050-C6A2-CE75-3828A81AA4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24" r="26776" b="-1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73B8580-3E96-1E98-C1B9-7252AFF8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1381F00-164C-CA60-475E-749B9B72F9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3D4B9A-32DB-6E9A-B54A-ECFE8EC08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33691-6B6D-ABE4-149A-771AA68EC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 fontScale="92500" lnSpcReduction="20000"/>
          </a:bodyPr>
          <a:lstStyle/>
          <a:p>
            <a:r>
              <a:rPr lang="en-AU" sz="1700" dirty="0"/>
              <a:t>If your lose your job or change to a new job where novated leasing is not supported, you have to pay off the remaining lease at full pos—tax amount. </a:t>
            </a:r>
          </a:p>
          <a:p>
            <a:endParaRPr lang="en-AU" sz="1700" dirty="0"/>
          </a:p>
          <a:p>
            <a:r>
              <a:rPr lang="en-AU" sz="1700" dirty="0"/>
              <a:t>In many cases the amount you end up paying ends up being worse than what you would have paid if you got the car with cash in the first place. </a:t>
            </a:r>
          </a:p>
          <a:p>
            <a:endParaRPr lang="en-AU" sz="1700" dirty="0"/>
          </a:p>
          <a:p>
            <a:r>
              <a:rPr lang="en-AU" sz="1700" dirty="0"/>
              <a:t>Similar mechanism if you write off a car and is not adequately insured. </a:t>
            </a:r>
          </a:p>
        </p:txBody>
      </p:sp>
    </p:spTree>
    <p:extLst>
      <p:ext uri="{BB962C8B-B14F-4D97-AF65-F5344CB8AC3E}">
        <p14:creationId xmlns:p14="http://schemas.microsoft.com/office/powerpoint/2010/main" val="1897474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Who it suits best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31C281B8-C29A-2591-1320-202C4B9BC5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773275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Final takeaway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Novated lease is not good or bad</a:t>
            </a:r>
          </a:p>
          <a:p>
            <a:pPr lvl="1"/>
            <a:r>
              <a:rPr lang="en-AU" dirty="0"/>
              <a:t>Could save money when everything goes to plan.</a:t>
            </a:r>
          </a:p>
          <a:p>
            <a:pPr lvl="1"/>
            <a:r>
              <a:rPr lang="en-AU" dirty="0"/>
              <a:t>But could cost you if things go to plan. </a:t>
            </a:r>
          </a:p>
          <a:p>
            <a:pPr lvl="1"/>
            <a:r>
              <a:rPr lang="en-AU" dirty="0"/>
              <a:t>You must weigh up the chances and see if the downside is worth the upside.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1128</Words>
  <Application>Microsoft Macintosh PowerPoint</Application>
  <PresentationFormat>On-screen Show (4:3)</PresentationFormat>
  <Paragraphs>128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Novated leases and novel ways to finance EVs</vt:lpstr>
      <vt:lpstr>Who Am I?</vt:lpstr>
      <vt:lpstr>The OG Rules of Thumb</vt:lpstr>
      <vt:lpstr>How I Ended Up Down the Rabbit Hole</vt:lpstr>
      <vt:lpstr>The Mind-Blowing Discovery</vt:lpstr>
      <vt:lpstr>Further Discoveries</vt:lpstr>
      <vt:lpstr>PowerPoint Presentation</vt:lpstr>
      <vt:lpstr>Three ways Australians buy EVs</vt:lpstr>
      <vt:lpstr>Buying with cash or offset</vt:lpstr>
      <vt:lpstr>Buying with car loan</vt:lpstr>
      <vt:lpstr>What novated lease really is</vt:lpstr>
      <vt:lpstr>History of Novated Lease</vt:lpstr>
      <vt:lpstr>What calculators emphasise</vt:lpstr>
      <vt:lpstr>Caveat 1: Adjusted Taxable Income</vt:lpstr>
      <vt:lpstr>Caveat 2: Reduced borrowing capacity</vt:lpstr>
      <vt:lpstr>Caveat 3: Potentially worse super contribution</vt:lpstr>
      <vt:lpstr>Caveat 4: Risk of losing job / writing off the car</vt:lpstr>
      <vt:lpstr>Who it suits best</vt:lpstr>
      <vt:lpstr>Final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Yang Yew</cp:lastModifiedBy>
  <cp:revision>7</cp:revision>
  <dcterms:created xsi:type="dcterms:W3CDTF">2013-01-27T09:14:16Z</dcterms:created>
  <dcterms:modified xsi:type="dcterms:W3CDTF">2026-03-13T12:57:35Z</dcterms:modified>
  <cp:category/>
</cp:coreProperties>
</file>